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62" r:id="rId3"/>
    <p:sldId id="277" r:id="rId4"/>
    <p:sldId id="284" r:id="rId5"/>
    <p:sldId id="275" r:id="rId6"/>
    <p:sldId id="283" r:id="rId7"/>
    <p:sldId id="321" r:id="rId8"/>
    <p:sldId id="287" r:id="rId9"/>
    <p:sldId id="322" r:id="rId10"/>
    <p:sldId id="285" r:id="rId11"/>
    <p:sldId id="323" r:id="rId12"/>
    <p:sldId id="311" r:id="rId13"/>
    <p:sldId id="318" r:id="rId14"/>
    <p:sldId id="319" r:id="rId15"/>
    <p:sldId id="320" r:id="rId16"/>
    <p:sldId id="279" r:id="rId17"/>
  </p:sldIdLst>
  <p:sldSz cx="18288000" cy="10287000"/>
  <p:notesSz cx="6858000" cy="9144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Myanmar Text" panose="020B0502040204020203" pitchFamily="34" charset="0"/>
      <p:regular r:id="rId23"/>
      <p:bold r:id="rId24"/>
    </p:embeddedFont>
    <p:embeddedFont>
      <p:font typeface="Malgun Gothic" panose="020B0503020000020004" pitchFamily="34" charset="-127"/>
      <p:regular r:id="rId25"/>
      <p:bold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3E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50EC2B-4D7E-4477-98E2-6AE93171336A}" v="686" dt="2026-08-23T19:44:03.9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0" d="100"/>
          <a:sy n="60" d="100"/>
        </p:scale>
        <p:origin x="-370" y="-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50CFBD-2DEB-440F-9191-7BCF2F1F3C7B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4245B8-2127-40CB-94F2-866A59635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315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" name="Google Shape;2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0" name="Google Shape;3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46" name="Google Shape;4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7" name="Google Shape;3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46" name="Google Shape;4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48060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7" name="Google Shape;3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370009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46" name="Google Shape;4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035687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>
          <a:extLst>
            <a:ext uri="{FF2B5EF4-FFF2-40B4-BE49-F238E27FC236}">
              <a16:creationId xmlns:a16="http://schemas.microsoft.com/office/drawing/2014/main" xmlns="" id="{C1958E53-014C-2996-C465-D950EAB26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>
            <a:extLst>
              <a:ext uri="{FF2B5EF4-FFF2-40B4-BE49-F238E27FC236}">
                <a16:creationId xmlns:a16="http://schemas.microsoft.com/office/drawing/2014/main" xmlns="" id="{17ABE666-9A8D-E695-BDE3-98E05964FB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2:notes">
            <a:extLst>
              <a:ext uri="{FF2B5EF4-FFF2-40B4-BE49-F238E27FC236}">
                <a16:creationId xmlns:a16="http://schemas.microsoft.com/office/drawing/2014/main" xmlns="" id="{C94E4694-C835-03C4-324A-BE6ABB83CD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7" name="Google Shape;37;p2:notes">
            <a:extLst>
              <a:ext uri="{FF2B5EF4-FFF2-40B4-BE49-F238E27FC236}">
                <a16:creationId xmlns:a16="http://schemas.microsoft.com/office/drawing/2014/main" xmlns="" id="{DCFD3807-9417-AD5C-D76A-01E93F9B678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78445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46" name="Google Shape;4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8279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>
          <a:extLst>
            <a:ext uri="{FF2B5EF4-FFF2-40B4-BE49-F238E27FC236}">
              <a16:creationId xmlns:a16="http://schemas.microsoft.com/office/drawing/2014/main" xmlns="" id="{54412D7C-BD6D-BE58-A850-F49D25372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>
            <a:extLst>
              <a:ext uri="{FF2B5EF4-FFF2-40B4-BE49-F238E27FC236}">
                <a16:creationId xmlns:a16="http://schemas.microsoft.com/office/drawing/2014/main" xmlns="" id="{66F5A32F-E385-4C6A-3FA1-09D198DF3A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2:notes">
            <a:extLst>
              <a:ext uri="{FF2B5EF4-FFF2-40B4-BE49-F238E27FC236}">
                <a16:creationId xmlns:a16="http://schemas.microsoft.com/office/drawing/2014/main" xmlns="" id="{ED107D73-4DDB-0720-EEE5-DBFE2B83A7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7" name="Google Shape;37;p2:notes">
            <a:extLst>
              <a:ext uri="{FF2B5EF4-FFF2-40B4-BE49-F238E27FC236}">
                <a16:creationId xmlns:a16="http://schemas.microsoft.com/office/drawing/2014/main" xmlns="" id="{23CB94C3-5A06-3FD1-B395-5339516876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128328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46" name="Google Shape;4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84759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>
          <a:extLst>
            <a:ext uri="{FF2B5EF4-FFF2-40B4-BE49-F238E27FC236}">
              <a16:creationId xmlns:a16="http://schemas.microsoft.com/office/drawing/2014/main" xmlns="" id="{D324E376-B20F-2C58-26F2-49B7DA526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>
            <a:extLst>
              <a:ext uri="{FF2B5EF4-FFF2-40B4-BE49-F238E27FC236}">
                <a16:creationId xmlns:a16="http://schemas.microsoft.com/office/drawing/2014/main" xmlns="" id="{D9D74454-6A82-2534-C022-B259B6D9B9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2:notes">
            <a:extLst>
              <a:ext uri="{FF2B5EF4-FFF2-40B4-BE49-F238E27FC236}">
                <a16:creationId xmlns:a16="http://schemas.microsoft.com/office/drawing/2014/main" xmlns="" id="{679A3E2F-6EB6-AB6F-2D61-85DCF89CE4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7" name="Google Shape;37;p2:notes">
            <a:extLst>
              <a:ext uri="{FF2B5EF4-FFF2-40B4-BE49-F238E27FC236}">
                <a16:creationId xmlns:a16="http://schemas.microsoft.com/office/drawing/2014/main" xmlns="" id="{2B513D24-C216-295B-4024-13034C7EBE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16474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7b6163dee3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7b6163dee3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g27b6163dee3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im Cover">
  <p:cSld name="Interim Cover">
    <p:bg>
      <p:bgPr>
        <a:solidFill>
          <a:srgbClr val="193EB0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4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643132" y="370513"/>
            <a:ext cx="2952967" cy="786137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44"/>
          <p:cNvSpPr/>
          <p:nvPr/>
        </p:nvSpPr>
        <p:spPr>
          <a:xfrm>
            <a:off x="915806" y="605937"/>
            <a:ext cx="2513353" cy="315288"/>
          </a:xfrm>
          <a:custGeom>
            <a:avLst/>
            <a:gdLst/>
            <a:ahLst/>
            <a:cxnLst/>
            <a:rect l="l" t="t" r="r" b="b"/>
            <a:pathLst>
              <a:path w="2179" h="334" extrusionOk="0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27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74449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6"/>
          <p:cNvSpPr/>
          <p:nvPr/>
        </p:nvSpPr>
        <p:spPr>
          <a:xfrm>
            <a:off x="1" y="0"/>
            <a:ext cx="18288000" cy="3105807"/>
          </a:xfrm>
          <a:prstGeom prst="rect">
            <a:avLst/>
          </a:prstGeom>
          <a:solidFill>
            <a:srgbClr val="193EB0"/>
          </a:solidFill>
          <a:ln>
            <a:noFill/>
          </a:ln>
        </p:spPr>
        <p:txBody>
          <a:bodyPr spcFirstLastPara="1" wrap="square" lIns="137138" tIns="68550" rIns="137138" bIns="685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7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6"/>
          <p:cNvSpPr/>
          <p:nvPr/>
        </p:nvSpPr>
        <p:spPr>
          <a:xfrm>
            <a:off x="1057441" y="9533057"/>
            <a:ext cx="5334857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 sz="2700"/>
          </a:p>
        </p:txBody>
      </p:sp>
    </p:spTree>
    <p:extLst>
      <p:ext uri="{BB962C8B-B14F-4D97-AF65-F5344CB8AC3E}">
        <p14:creationId xmlns:p14="http://schemas.microsoft.com/office/powerpoint/2010/main" val="704519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ront Cover">
  <p:cSld name="Front Cover">
    <p:bg>
      <p:bgPr>
        <a:solidFill>
          <a:srgbClr val="193EB0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5"/>
          <p:cNvSpPr/>
          <p:nvPr/>
        </p:nvSpPr>
        <p:spPr>
          <a:xfrm>
            <a:off x="1057441" y="9533057"/>
            <a:ext cx="5334857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 sz="2700"/>
          </a:p>
        </p:txBody>
      </p:sp>
    </p:spTree>
    <p:extLst>
      <p:ext uri="{BB962C8B-B14F-4D97-AF65-F5344CB8AC3E}">
        <p14:creationId xmlns:p14="http://schemas.microsoft.com/office/powerpoint/2010/main" val="3604307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 Cover">
  <p:cSld name="Back Cover">
    <p:bg>
      <p:bgPr>
        <a:solidFill>
          <a:srgbClr val="193EB0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8"/>
          <p:cNvSpPr/>
          <p:nvPr/>
        </p:nvSpPr>
        <p:spPr>
          <a:xfrm>
            <a:off x="1095078" y="8446562"/>
            <a:ext cx="17192922" cy="1102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ⓒ2020 SAMSUNG. All rights reserved.</a:t>
            </a:r>
            <a:endParaRPr sz="2700"/>
          </a:p>
          <a:p>
            <a:pPr marL="0" marR="0" lvl="0" indent="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Electronics Corporate Citizenship Office holds the copyright of book.</a:t>
            </a:r>
            <a:endParaRPr sz="2700"/>
          </a:p>
          <a:p>
            <a:pPr marL="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This book is a literary property protected by copyright law so reprint and reproduction without permission are prohibited. </a:t>
            </a:r>
            <a:endParaRPr sz="27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 use this book other than the curriculum of Samsung innovation Campus or to use the entire or part of this book, you must receive written consent from copyright holder.</a:t>
            </a:r>
            <a:endParaRPr sz="2700"/>
          </a:p>
        </p:txBody>
      </p:sp>
      <p:sp>
        <p:nvSpPr>
          <p:cNvPr id="24" name="Google Shape;24;p48"/>
          <p:cNvSpPr/>
          <p:nvPr/>
        </p:nvSpPr>
        <p:spPr>
          <a:xfrm>
            <a:off x="14896875" y="605937"/>
            <a:ext cx="2513353" cy="315288"/>
          </a:xfrm>
          <a:custGeom>
            <a:avLst/>
            <a:gdLst/>
            <a:ahLst/>
            <a:cxnLst/>
            <a:rect l="l" t="t" r="r" b="b"/>
            <a:pathLst>
              <a:path w="2179" h="334" extrusionOk="0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27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Google Shape;25;p4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41182" y="3943319"/>
            <a:ext cx="6205635" cy="16532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97101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4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2521462" y="2400000"/>
            <a:ext cx="14699737" cy="19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rPr lang="en-US" sz="4800" b="1" i="0" dirty="0">
                <a:solidFill>
                  <a:srgbClr val="FFFFFF"/>
                </a:solidFill>
                <a:effectLst/>
                <a:latin typeface="Myanmar Text" panose="020B0502040204020203" pitchFamily="34" charset="0"/>
                <a:cs typeface="Myanmar Text" panose="020B0502040204020203" pitchFamily="34" charset="0"/>
              </a:rPr>
              <a:t>ChargeSpot: EV Charging Management System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8C1D468-0F1E-42A1-32BF-F584AA2EBCB0}"/>
              </a:ext>
            </a:extLst>
          </p:cNvPr>
          <p:cNvSpPr txBox="1"/>
          <p:nvPr/>
        </p:nvSpPr>
        <p:spPr>
          <a:xfrm>
            <a:off x="2521542" y="4550000"/>
            <a:ext cx="3879258" cy="30162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71500" indent="-571500">
              <a:buFont typeface="Arial"/>
              <a:buChar char="•"/>
            </a:pPr>
            <a:r>
              <a:rPr lang="en-US" sz="3600" dirty="0">
                <a:solidFill>
                  <a:srgbClr val="00B3E3"/>
                </a:solidFill>
                <a:latin typeface="Calibri"/>
                <a:ea typeface="Calibri"/>
                <a:cs typeface="Calibri"/>
              </a:rPr>
              <a:t>SIC 8</a:t>
            </a:r>
            <a:endParaRPr lang="en-US" sz="36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endParaRPr lang="en-US" sz="3200" dirty="0">
              <a:solidFill>
                <a:srgbClr val="00B3E3"/>
              </a:solidFill>
              <a:latin typeface="Arial"/>
              <a:ea typeface="Calibri"/>
              <a:cs typeface="Arial"/>
            </a:endParaRPr>
          </a:p>
          <a:p>
            <a:pPr marL="457200" indent="-457200" algn="l">
              <a:buFont typeface="Arial"/>
              <a:buChar char="•"/>
            </a:pPr>
            <a:r>
              <a:rPr lang="en-US" sz="3200" dirty="0">
                <a:solidFill>
                  <a:srgbClr val="00B3E3"/>
                </a:solidFill>
                <a:latin typeface="Arial"/>
                <a:ea typeface="Calibri"/>
                <a:cs typeface="Arial"/>
              </a:rPr>
              <a:t>CP </a:t>
            </a:r>
            <a:endParaRPr lang="en-US" sz="3200" dirty="0">
              <a:solidFill>
                <a:srgbClr val="000000"/>
              </a:solidFill>
              <a:latin typeface="Arial"/>
              <a:ea typeface="Calibri"/>
              <a:cs typeface="Arial"/>
            </a:endParaRPr>
          </a:p>
          <a:p>
            <a:pPr marL="571500" indent="-571500">
              <a:buFont typeface="Arial"/>
              <a:buChar char="•"/>
            </a:pPr>
            <a:endParaRPr lang="en-US" sz="3600" dirty="0">
              <a:solidFill>
                <a:srgbClr val="00B3E3"/>
              </a:solidFill>
              <a:ea typeface="Calibri"/>
              <a:cs typeface="Calibri"/>
            </a:endParaRPr>
          </a:p>
          <a:p>
            <a:pPr marL="571500" indent="-571500">
              <a:buFont typeface="Arial"/>
              <a:buChar char="•"/>
            </a:pPr>
            <a:r>
              <a:rPr lang="en-US" sz="3600" dirty="0">
                <a:solidFill>
                  <a:srgbClr val="00B3E3"/>
                </a:solidFill>
                <a:ea typeface="Calibri"/>
                <a:cs typeface="Calibri"/>
              </a:rPr>
              <a:t>Team </a:t>
            </a:r>
            <a:r>
              <a:rPr lang="ar-EG" sz="3600" dirty="0">
                <a:solidFill>
                  <a:srgbClr val="00B3E3"/>
                </a:solidFill>
                <a:ea typeface="Calibri"/>
                <a:cs typeface="Calibri"/>
              </a:rPr>
              <a:t>4</a:t>
            </a:r>
            <a:endParaRPr lang="en-US" sz="3600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0" b="1" dirty="0">
                <a:solidFill>
                  <a:schemeClr val="lt1"/>
                </a:solidFill>
              </a:rPr>
              <a:t>Agenda</a:t>
            </a:r>
            <a:endParaRPr sz="5000" b="1" dirty="0"/>
          </a:p>
        </p:txBody>
      </p:sp>
      <p:grpSp>
        <p:nvGrpSpPr>
          <p:cNvPr id="2" name="Google Shape;50;p3">
            <a:extLst>
              <a:ext uri="{FF2B5EF4-FFF2-40B4-BE49-F238E27FC236}">
                <a16:creationId xmlns:a16="http://schemas.microsoft.com/office/drawing/2014/main" xmlns="" id="{E2B5B782-5B12-44EC-DE2B-CFD7C0363A0A}"/>
              </a:ext>
            </a:extLst>
          </p:cNvPr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3" name="Google Shape;51;p3">
              <a:extLst>
                <a:ext uri="{FF2B5EF4-FFF2-40B4-BE49-F238E27FC236}">
                  <a16:creationId xmlns:a16="http://schemas.microsoft.com/office/drawing/2014/main" xmlns="" id="{EC9CBDC3-46C4-05CD-6DD5-372C3499F721}"/>
                </a:ext>
              </a:extLst>
            </p:cNvPr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b="1" dirty="0">
                  <a:latin typeface="Arial" panose="020B0604020202020204" pitchFamily="34" charset="0"/>
                  <a:cs typeface="Arial" panose="020B0604020202020204" pitchFamily="34" charset="0"/>
                </a:rPr>
                <a:t>Team</a:t>
              </a:r>
              <a:endParaRPr sz="2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Google Shape;52;p3">
              <a:extLst>
                <a:ext uri="{FF2B5EF4-FFF2-40B4-BE49-F238E27FC236}">
                  <a16:creationId xmlns:a16="http://schemas.microsoft.com/office/drawing/2014/main" xmlns="" id="{C7838699-C280-E980-B759-2787620C175A}"/>
                </a:ext>
              </a:extLst>
            </p:cNvPr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" name="Google Shape;53;p3">
            <a:extLst>
              <a:ext uri="{FF2B5EF4-FFF2-40B4-BE49-F238E27FC236}">
                <a16:creationId xmlns:a16="http://schemas.microsoft.com/office/drawing/2014/main" xmlns="" id="{45390769-5DBD-5D20-6B29-C7D403F2253D}"/>
              </a:ext>
            </a:extLst>
          </p:cNvPr>
          <p:cNvGrpSpPr/>
          <p:nvPr/>
        </p:nvGrpSpPr>
        <p:grpSpPr>
          <a:xfrm>
            <a:off x="2819400" y="4864902"/>
            <a:ext cx="8553420" cy="417185"/>
            <a:chOff x="571500" y="3764860"/>
            <a:chExt cx="5702280" cy="278123"/>
          </a:xfrm>
        </p:grpSpPr>
        <p:sp>
          <p:nvSpPr>
            <p:cNvPr id="18" name="Google Shape;54;p3">
              <a:extLst>
                <a:ext uri="{FF2B5EF4-FFF2-40B4-BE49-F238E27FC236}">
                  <a16:creationId xmlns:a16="http://schemas.microsoft.com/office/drawing/2014/main" xmlns="" id="{F95E8AB1-C86C-5951-0C0A-796069300F7D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Introduction</a:t>
              </a:r>
            </a:p>
          </p:txBody>
        </p:sp>
        <p:sp>
          <p:nvSpPr>
            <p:cNvPr id="19" name="Google Shape;55;p3">
              <a:extLst>
                <a:ext uri="{FF2B5EF4-FFF2-40B4-BE49-F238E27FC236}">
                  <a16:creationId xmlns:a16="http://schemas.microsoft.com/office/drawing/2014/main" xmlns="" id="{89D57B8B-FE06-CC1A-1314-83365C8A16D2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" name="Google Shape;53;p3">
            <a:extLst>
              <a:ext uri="{FF2B5EF4-FFF2-40B4-BE49-F238E27FC236}">
                <a16:creationId xmlns:a16="http://schemas.microsoft.com/office/drawing/2014/main" xmlns="" id="{2FD0EABC-52F2-4414-C7E0-16AF5C8B4532}"/>
              </a:ext>
            </a:extLst>
          </p:cNvPr>
          <p:cNvGrpSpPr/>
          <p:nvPr/>
        </p:nvGrpSpPr>
        <p:grpSpPr>
          <a:xfrm>
            <a:off x="2819400" y="4281839"/>
            <a:ext cx="8553420" cy="417185"/>
            <a:chOff x="571500" y="3764860"/>
            <a:chExt cx="5702280" cy="278123"/>
          </a:xfrm>
        </p:grpSpPr>
        <p:sp>
          <p:nvSpPr>
            <p:cNvPr id="27" name="Google Shape;54;p3">
              <a:extLst>
                <a:ext uri="{FF2B5EF4-FFF2-40B4-BE49-F238E27FC236}">
                  <a16:creationId xmlns:a16="http://schemas.microsoft.com/office/drawing/2014/main" xmlns="" id="{C798BA73-F11F-0207-BB46-3A4648622ECF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Problem Statement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8" name="Google Shape;55;p3">
              <a:extLst>
                <a:ext uri="{FF2B5EF4-FFF2-40B4-BE49-F238E27FC236}">
                  <a16:creationId xmlns:a16="http://schemas.microsoft.com/office/drawing/2014/main" xmlns="" id="{17C2752D-50A8-62F0-8AA6-11C8C3B9AFF3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" name="Google Shape;59;p3">
            <a:extLst>
              <a:ext uri="{FF2B5EF4-FFF2-40B4-BE49-F238E27FC236}">
                <a16:creationId xmlns:a16="http://schemas.microsoft.com/office/drawing/2014/main" xmlns="" id="{7F7E447A-C5E1-7420-8FBB-3CF4F1A9AD02}"/>
              </a:ext>
            </a:extLst>
          </p:cNvPr>
          <p:cNvGrpSpPr/>
          <p:nvPr/>
        </p:nvGrpSpPr>
        <p:grpSpPr>
          <a:xfrm>
            <a:off x="2819400" y="5418578"/>
            <a:ext cx="8553420" cy="417167"/>
            <a:chOff x="571500" y="5165783"/>
            <a:chExt cx="5702280" cy="278111"/>
          </a:xfrm>
        </p:grpSpPr>
        <p:sp>
          <p:nvSpPr>
            <p:cNvPr id="24" name="Google Shape;60;p3">
              <a:extLst>
                <a:ext uri="{FF2B5EF4-FFF2-40B4-BE49-F238E27FC236}">
                  <a16:creationId xmlns:a16="http://schemas.microsoft.com/office/drawing/2014/main" xmlns="" id="{C343142B-432C-21AC-C3ED-C746402D1775}"/>
                </a:ext>
              </a:extLst>
            </p:cNvPr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Methodology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5" name="Google Shape;61;p3">
              <a:extLst>
                <a:ext uri="{FF2B5EF4-FFF2-40B4-BE49-F238E27FC236}">
                  <a16:creationId xmlns:a16="http://schemas.microsoft.com/office/drawing/2014/main" xmlns="" id="{A929D6BB-1C0E-E7E6-0485-DFC4F9631D13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" name="Google Shape;59;p3">
            <a:extLst>
              <a:ext uri="{FF2B5EF4-FFF2-40B4-BE49-F238E27FC236}">
                <a16:creationId xmlns:a16="http://schemas.microsoft.com/office/drawing/2014/main" xmlns="" id="{6B0CC098-F2B6-F4AB-ACA1-ADA8CE90848D}"/>
              </a:ext>
            </a:extLst>
          </p:cNvPr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30" name="Google Shape;60;p3">
              <a:extLst>
                <a:ext uri="{FF2B5EF4-FFF2-40B4-BE49-F238E27FC236}">
                  <a16:creationId xmlns:a16="http://schemas.microsoft.com/office/drawing/2014/main" xmlns="" id="{5827A87A-FDAA-039B-8499-A0134E71CC44}"/>
                </a:ext>
              </a:extLst>
            </p:cNvPr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Results and Insights</a:t>
              </a:r>
            </a:p>
          </p:txBody>
        </p:sp>
        <p:sp>
          <p:nvSpPr>
            <p:cNvPr id="31" name="Google Shape;61;p3">
              <a:extLst>
                <a:ext uri="{FF2B5EF4-FFF2-40B4-BE49-F238E27FC236}">
                  <a16:creationId xmlns:a16="http://schemas.microsoft.com/office/drawing/2014/main" xmlns="" id="{8C925EB8-49B2-7445-4CD7-4610E9FC10C2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" name="Google Shape;59;p3">
            <a:extLst>
              <a:ext uri="{FF2B5EF4-FFF2-40B4-BE49-F238E27FC236}">
                <a16:creationId xmlns:a16="http://schemas.microsoft.com/office/drawing/2014/main" xmlns="" id="{D876FA5B-C218-9A6F-8397-0DE31982F5F2}"/>
              </a:ext>
            </a:extLst>
          </p:cNvPr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33" name="Google Shape;60;p3">
              <a:extLst>
                <a:ext uri="{FF2B5EF4-FFF2-40B4-BE49-F238E27FC236}">
                  <a16:creationId xmlns:a16="http://schemas.microsoft.com/office/drawing/2014/main" xmlns="" id="{5C09F73E-CCE3-EB94-1BF8-3F91767F5498}"/>
                </a:ext>
              </a:extLst>
            </p:cNvPr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Conclusion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4" name="Google Shape;61;p3">
              <a:extLst>
                <a:ext uri="{FF2B5EF4-FFF2-40B4-BE49-F238E27FC236}">
                  <a16:creationId xmlns:a16="http://schemas.microsoft.com/office/drawing/2014/main" xmlns="" id="{62729B27-633B-0381-594B-D268770FDC45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59;p3">
            <a:extLst>
              <a:ext uri="{FF2B5EF4-FFF2-40B4-BE49-F238E27FC236}">
                <a16:creationId xmlns:a16="http://schemas.microsoft.com/office/drawing/2014/main" xmlns="" id="{5BA8E6CA-3E50-9C10-4FDF-72B2CFB555C3}"/>
              </a:ext>
            </a:extLst>
          </p:cNvPr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36" name="Google Shape;60;p3">
              <a:extLst>
                <a:ext uri="{FF2B5EF4-FFF2-40B4-BE49-F238E27FC236}">
                  <a16:creationId xmlns:a16="http://schemas.microsoft.com/office/drawing/2014/main" xmlns="" id="{983DC240-2142-1D58-B1DF-73232CB9745F}"/>
                </a:ext>
              </a:extLst>
            </p:cNvPr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Q&amp;A</a:t>
              </a:r>
              <a:endParaRPr lang="en-US" sz="27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7" name="Google Shape;61;p3">
              <a:extLst>
                <a:ext uri="{FF2B5EF4-FFF2-40B4-BE49-F238E27FC236}">
                  <a16:creationId xmlns:a16="http://schemas.microsoft.com/office/drawing/2014/main" xmlns="" id="{3A4624BC-583E-7CE8-CECD-D0FFBABAA10C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56;p3">
            <a:extLst>
              <a:ext uri="{FF2B5EF4-FFF2-40B4-BE49-F238E27FC236}">
                <a16:creationId xmlns:a16="http://schemas.microsoft.com/office/drawing/2014/main" xmlns="" id="{A7BE938D-83D0-31CC-F469-A384BD411D9E}"/>
              </a:ext>
            </a:extLst>
          </p:cNvPr>
          <p:cNvGrpSpPr/>
          <p:nvPr/>
        </p:nvGrpSpPr>
        <p:grpSpPr>
          <a:xfrm>
            <a:off x="2819400" y="6057900"/>
            <a:ext cx="8553420" cy="417186"/>
            <a:chOff x="571500" y="5165783"/>
            <a:chExt cx="5702280" cy="278124"/>
          </a:xfrm>
        </p:grpSpPr>
        <p:sp>
          <p:nvSpPr>
            <p:cNvPr id="39" name="Google Shape;57;p3">
              <a:extLst>
                <a:ext uri="{FF2B5EF4-FFF2-40B4-BE49-F238E27FC236}">
                  <a16:creationId xmlns:a16="http://schemas.microsoft.com/office/drawing/2014/main" xmlns="" id="{9B7D4C13-7475-82A3-078D-64A6845669B6}"/>
                </a:ext>
              </a:extLst>
            </p:cNvPr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Key Tasks</a:t>
              </a:r>
            </a:p>
          </p:txBody>
        </p:sp>
        <p:sp>
          <p:nvSpPr>
            <p:cNvPr id="40" name="Google Shape;58;p3">
              <a:extLst>
                <a:ext uri="{FF2B5EF4-FFF2-40B4-BE49-F238E27FC236}">
                  <a16:creationId xmlns:a16="http://schemas.microsoft.com/office/drawing/2014/main" xmlns="" id="{5894D6D0-8127-F992-F67B-EE9DD5979182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/>
          <p:cNvSpPr/>
          <p:nvPr/>
        </p:nvSpPr>
        <p:spPr>
          <a:xfrm>
            <a:off x="3057398" y="1217033"/>
            <a:ext cx="105129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Meet </a:t>
            </a:r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Team</a:t>
            </a:r>
            <a:endParaRPr lang="en-US" dirty="0">
              <a:solidFill>
                <a:schemeClr val="lt1"/>
              </a:solidFill>
            </a:endParaRPr>
          </a:p>
        </p:txBody>
      </p:sp>
      <p:cxnSp>
        <p:nvCxnSpPr>
          <p:cNvPr id="41" name="Google Shape;41;p2"/>
          <p:cNvCxnSpPr>
            <a:cxnSpLocks/>
          </p:cNvCxnSpPr>
          <p:nvPr/>
        </p:nvCxnSpPr>
        <p:spPr>
          <a:xfrm>
            <a:off x="2655131" y="3146428"/>
            <a:ext cx="0" cy="3603572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81" name="Card 181"/>
          <p:cNvSpPr/>
          <p:nvPr/>
        </p:nvSpPr>
        <p:spPr>
          <a:xfrm>
            <a:off x="3031998" y="3146428"/>
            <a:ext cx="3342500" cy="3600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82" name="Avatar 182"/>
          <p:cNvSpPr/>
          <p:nvPr/>
        </p:nvSpPr>
        <p:spPr>
          <a:xfrm>
            <a:off x="3953248" y="3500000"/>
            <a:ext cx="1500000" cy="150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4400" b="1" dirty="0">
                <a:solidFill>
                  <a:srgbClr val="193EB0"/>
                </a:solidFill>
                <a:latin typeface="Calibri"/>
              </a:rPr>
              <a:t>AA</a:t>
            </a:r>
          </a:p>
        </p:txBody>
      </p:sp>
      <p:sp>
        <p:nvSpPr>
          <p:cNvPr id="183" name="Name 183"/>
          <p:cNvSpPr txBox="1"/>
          <p:nvPr/>
        </p:nvSpPr>
        <p:spPr>
          <a:xfrm>
            <a:off x="3181998" y="5300000"/>
            <a:ext cx="30425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Amr Atef</a:t>
            </a:r>
          </a:p>
        </p:txBody>
      </p:sp>
      <p:sp>
        <p:nvSpPr>
          <p:cNvPr id="184" name="Card 184"/>
          <p:cNvSpPr/>
          <p:nvPr/>
        </p:nvSpPr>
        <p:spPr>
          <a:xfrm>
            <a:off x="6674498" y="3146428"/>
            <a:ext cx="3342500" cy="3600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85" name="Avatar 185"/>
          <p:cNvSpPr/>
          <p:nvPr/>
        </p:nvSpPr>
        <p:spPr>
          <a:xfrm>
            <a:off x="7595748" y="3500000"/>
            <a:ext cx="1500000" cy="150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4400" b="1" dirty="0">
                <a:solidFill>
                  <a:srgbClr val="193EB0"/>
                </a:solidFill>
                <a:latin typeface="Calibri"/>
              </a:rPr>
              <a:t>AM</a:t>
            </a:r>
          </a:p>
        </p:txBody>
      </p:sp>
      <p:sp>
        <p:nvSpPr>
          <p:cNvPr id="186" name="Name 186"/>
          <p:cNvSpPr txBox="1"/>
          <p:nvPr/>
        </p:nvSpPr>
        <p:spPr>
          <a:xfrm>
            <a:off x="6824498" y="5300000"/>
            <a:ext cx="30425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Ahmed Mahmoud</a:t>
            </a:r>
          </a:p>
        </p:txBody>
      </p:sp>
      <p:sp>
        <p:nvSpPr>
          <p:cNvPr id="187" name="Card 187"/>
          <p:cNvSpPr/>
          <p:nvPr/>
        </p:nvSpPr>
        <p:spPr>
          <a:xfrm>
            <a:off x="10316998" y="3146428"/>
            <a:ext cx="3342500" cy="3600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88" name="Avatar 188"/>
          <p:cNvSpPr/>
          <p:nvPr/>
        </p:nvSpPr>
        <p:spPr>
          <a:xfrm>
            <a:off x="11238248" y="3500000"/>
            <a:ext cx="1500000" cy="150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4400" b="1" dirty="0">
                <a:solidFill>
                  <a:srgbClr val="193EB0"/>
                </a:solidFill>
                <a:latin typeface="Calibri"/>
              </a:rPr>
              <a:t>BE</a:t>
            </a:r>
          </a:p>
        </p:txBody>
      </p:sp>
      <p:sp>
        <p:nvSpPr>
          <p:cNvPr id="189" name="Name 189"/>
          <p:cNvSpPr txBox="1"/>
          <p:nvPr/>
        </p:nvSpPr>
        <p:spPr>
          <a:xfrm>
            <a:off x="10466998" y="5300000"/>
            <a:ext cx="30425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Bishoy Emeil</a:t>
            </a:r>
          </a:p>
        </p:txBody>
      </p:sp>
      <p:sp>
        <p:nvSpPr>
          <p:cNvPr id="190" name="Card 190"/>
          <p:cNvSpPr/>
          <p:nvPr/>
        </p:nvSpPr>
        <p:spPr>
          <a:xfrm>
            <a:off x="13959498" y="3146428"/>
            <a:ext cx="3342500" cy="3600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91" name="Avatar 191"/>
          <p:cNvSpPr/>
          <p:nvPr/>
        </p:nvSpPr>
        <p:spPr>
          <a:xfrm>
            <a:off x="14880748" y="3500000"/>
            <a:ext cx="1500000" cy="150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4400" b="1" dirty="0">
                <a:solidFill>
                  <a:srgbClr val="193EB0"/>
                </a:solidFill>
                <a:latin typeface="Calibri"/>
              </a:rPr>
              <a:t>MG</a:t>
            </a:r>
          </a:p>
        </p:txBody>
      </p:sp>
      <p:sp>
        <p:nvSpPr>
          <p:cNvPr id="192" name="Name 192"/>
          <p:cNvSpPr txBox="1"/>
          <p:nvPr/>
        </p:nvSpPr>
        <p:spPr>
          <a:xfrm>
            <a:off x="14109498" y="5300000"/>
            <a:ext cx="30425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Malak Ghandour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0" b="1" dirty="0">
                <a:solidFill>
                  <a:schemeClr val="lt1"/>
                </a:solidFill>
              </a:rPr>
              <a:t>Agenda</a:t>
            </a:r>
            <a:endParaRPr sz="5000" b="1" dirty="0">
              <a:solidFill>
                <a:schemeClr val="lt1"/>
              </a:solidFill>
            </a:endParaRPr>
          </a:p>
        </p:txBody>
      </p:sp>
      <p:grpSp>
        <p:nvGrpSpPr>
          <p:cNvPr id="2" name="Google Shape;50;p3">
            <a:extLst>
              <a:ext uri="{FF2B5EF4-FFF2-40B4-BE49-F238E27FC236}">
                <a16:creationId xmlns:a16="http://schemas.microsoft.com/office/drawing/2014/main" xmlns="" id="{E2B5B782-5B12-44EC-DE2B-CFD7C0363A0A}"/>
              </a:ext>
            </a:extLst>
          </p:cNvPr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3" name="Google Shape;51;p3">
              <a:extLst>
                <a:ext uri="{FF2B5EF4-FFF2-40B4-BE49-F238E27FC236}">
                  <a16:creationId xmlns:a16="http://schemas.microsoft.com/office/drawing/2014/main" xmlns="" id="{EC9CBDC3-46C4-05CD-6DD5-372C3499F721}"/>
                </a:ext>
              </a:extLst>
            </p:cNvPr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Team</a:t>
              </a:r>
              <a:endParaRPr sz="27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Google Shape;52;p3">
              <a:extLst>
                <a:ext uri="{FF2B5EF4-FFF2-40B4-BE49-F238E27FC236}">
                  <a16:creationId xmlns:a16="http://schemas.microsoft.com/office/drawing/2014/main" xmlns="" id="{C7838699-C280-E980-B759-2787620C175A}"/>
                </a:ext>
              </a:extLst>
            </p:cNvPr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" name="Google Shape;53;p3">
            <a:extLst>
              <a:ext uri="{FF2B5EF4-FFF2-40B4-BE49-F238E27FC236}">
                <a16:creationId xmlns:a16="http://schemas.microsoft.com/office/drawing/2014/main" xmlns="" id="{45390769-5DBD-5D20-6B29-C7D403F2253D}"/>
              </a:ext>
            </a:extLst>
          </p:cNvPr>
          <p:cNvGrpSpPr/>
          <p:nvPr/>
        </p:nvGrpSpPr>
        <p:grpSpPr>
          <a:xfrm>
            <a:off x="2838827" y="4838849"/>
            <a:ext cx="8553420" cy="417185"/>
            <a:chOff x="571500" y="3764860"/>
            <a:chExt cx="5702280" cy="278123"/>
          </a:xfrm>
        </p:grpSpPr>
        <p:sp>
          <p:nvSpPr>
            <p:cNvPr id="18" name="Google Shape;54;p3">
              <a:extLst>
                <a:ext uri="{FF2B5EF4-FFF2-40B4-BE49-F238E27FC236}">
                  <a16:creationId xmlns:a16="http://schemas.microsoft.com/office/drawing/2014/main" xmlns="" id="{F95E8AB1-C86C-5951-0C0A-796069300F7D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Introduction</a:t>
              </a:r>
            </a:p>
          </p:txBody>
        </p:sp>
        <p:sp>
          <p:nvSpPr>
            <p:cNvPr id="19" name="Google Shape;55;p3">
              <a:extLst>
                <a:ext uri="{FF2B5EF4-FFF2-40B4-BE49-F238E27FC236}">
                  <a16:creationId xmlns:a16="http://schemas.microsoft.com/office/drawing/2014/main" xmlns="" id="{89D57B8B-FE06-CC1A-1314-83365C8A16D2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" name="Google Shape;53;p3">
            <a:extLst>
              <a:ext uri="{FF2B5EF4-FFF2-40B4-BE49-F238E27FC236}">
                <a16:creationId xmlns:a16="http://schemas.microsoft.com/office/drawing/2014/main" xmlns="" id="{2FD0EABC-52F2-4414-C7E0-16AF5C8B4532}"/>
              </a:ext>
            </a:extLst>
          </p:cNvPr>
          <p:cNvGrpSpPr/>
          <p:nvPr/>
        </p:nvGrpSpPr>
        <p:grpSpPr>
          <a:xfrm>
            <a:off x="2838827" y="4263985"/>
            <a:ext cx="8553420" cy="417185"/>
            <a:chOff x="571500" y="3764860"/>
            <a:chExt cx="5702280" cy="278123"/>
          </a:xfrm>
        </p:grpSpPr>
        <p:sp>
          <p:nvSpPr>
            <p:cNvPr id="27" name="Google Shape;54;p3">
              <a:extLst>
                <a:ext uri="{FF2B5EF4-FFF2-40B4-BE49-F238E27FC236}">
                  <a16:creationId xmlns:a16="http://schemas.microsoft.com/office/drawing/2014/main" xmlns="" id="{C798BA73-F11F-0207-BB46-3A4648622ECF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b="1" dirty="0">
                  <a:latin typeface="Arial" panose="020B0604020202020204" pitchFamily="34" charset="0"/>
                  <a:cs typeface="Arial" panose="020B0604020202020204" pitchFamily="34" charset="0"/>
                </a:rPr>
                <a:t>Problem Statement</a:t>
              </a:r>
              <a:endParaRPr lang="en-US" sz="3600" b="1" dirty="0"/>
            </a:p>
          </p:txBody>
        </p:sp>
        <p:sp>
          <p:nvSpPr>
            <p:cNvPr id="28" name="Google Shape;55;p3">
              <a:extLst>
                <a:ext uri="{FF2B5EF4-FFF2-40B4-BE49-F238E27FC236}">
                  <a16:creationId xmlns:a16="http://schemas.microsoft.com/office/drawing/2014/main" xmlns="" id="{17C2752D-50A8-62F0-8AA6-11C8C3B9AFF3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" name="Google Shape;59;p3">
            <a:extLst>
              <a:ext uri="{FF2B5EF4-FFF2-40B4-BE49-F238E27FC236}">
                <a16:creationId xmlns:a16="http://schemas.microsoft.com/office/drawing/2014/main" xmlns="" id="{85E349D9-A193-F0B4-178E-3B608030D164}"/>
              </a:ext>
            </a:extLst>
          </p:cNvPr>
          <p:cNvGrpSpPr/>
          <p:nvPr/>
        </p:nvGrpSpPr>
        <p:grpSpPr>
          <a:xfrm>
            <a:off x="2838827" y="6060863"/>
            <a:ext cx="8553420" cy="417167"/>
            <a:chOff x="571500" y="5165783"/>
            <a:chExt cx="5702280" cy="278111"/>
          </a:xfrm>
        </p:grpSpPr>
        <p:sp>
          <p:nvSpPr>
            <p:cNvPr id="42" name="Google Shape;60;p3">
              <a:extLst>
                <a:ext uri="{FF2B5EF4-FFF2-40B4-BE49-F238E27FC236}">
                  <a16:creationId xmlns:a16="http://schemas.microsoft.com/office/drawing/2014/main" xmlns="" id="{EFFC4856-B028-838B-CC8D-3EF685ED7D61}"/>
                </a:ext>
              </a:extLst>
            </p:cNvPr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Key Tasks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43" name="Google Shape;61;p3">
              <a:extLst>
                <a:ext uri="{FF2B5EF4-FFF2-40B4-BE49-F238E27FC236}">
                  <a16:creationId xmlns:a16="http://schemas.microsoft.com/office/drawing/2014/main" xmlns="" id="{89CD6F7D-5AF4-EFA3-BD31-0DD92052428C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" name="Google Shape;59;p3">
            <a:extLst>
              <a:ext uri="{FF2B5EF4-FFF2-40B4-BE49-F238E27FC236}">
                <a16:creationId xmlns:a16="http://schemas.microsoft.com/office/drawing/2014/main" xmlns="" id="{EA2AD48F-33F1-D423-8B43-A2B9E6186B50}"/>
              </a:ext>
            </a:extLst>
          </p:cNvPr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45" name="Google Shape;60;p3">
              <a:extLst>
                <a:ext uri="{FF2B5EF4-FFF2-40B4-BE49-F238E27FC236}">
                  <a16:creationId xmlns:a16="http://schemas.microsoft.com/office/drawing/2014/main" xmlns="" id="{02D5BB92-6829-58A4-14C4-CC2E1C38E7BA}"/>
                </a:ext>
              </a:extLst>
            </p:cNvPr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Results and Insights</a:t>
              </a:r>
            </a:p>
          </p:txBody>
        </p:sp>
        <p:sp>
          <p:nvSpPr>
            <p:cNvPr id="46" name="Google Shape;61;p3">
              <a:extLst>
                <a:ext uri="{FF2B5EF4-FFF2-40B4-BE49-F238E27FC236}">
                  <a16:creationId xmlns:a16="http://schemas.microsoft.com/office/drawing/2014/main" xmlns="" id="{4DBAE548-F2FA-0118-D8D8-7A4374A59639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" name="Google Shape;59;p3">
            <a:extLst>
              <a:ext uri="{FF2B5EF4-FFF2-40B4-BE49-F238E27FC236}">
                <a16:creationId xmlns:a16="http://schemas.microsoft.com/office/drawing/2014/main" xmlns="" id="{27BE83FF-282E-B11E-237A-CEC6525324D2}"/>
              </a:ext>
            </a:extLst>
          </p:cNvPr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49" name="Google Shape;60;p3">
              <a:extLst>
                <a:ext uri="{FF2B5EF4-FFF2-40B4-BE49-F238E27FC236}">
                  <a16:creationId xmlns:a16="http://schemas.microsoft.com/office/drawing/2014/main" xmlns="" id="{9308C891-F45F-3040-CFCF-C3E87DE5FE00}"/>
                </a:ext>
              </a:extLst>
            </p:cNvPr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Conclusion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50" name="Google Shape;61;p3">
              <a:extLst>
                <a:ext uri="{FF2B5EF4-FFF2-40B4-BE49-F238E27FC236}">
                  <a16:creationId xmlns:a16="http://schemas.microsoft.com/office/drawing/2014/main" xmlns="" id="{A41658F1-DA9B-77CA-EFB1-58FA37D2F873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" name="Google Shape;59;p3">
            <a:extLst>
              <a:ext uri="{FF2B5EF4-FFF2-40B4-BE49-F238E27FC236}">
                <a16:creationId xmlns:a16="http://schemas.microsoft.com/office/drawing/2014/main" xmlns="" id="{F39646BC-47E1-D10A-F074-2B3D26B42E27}"/>
              </a:ext>
            </a:extLst>
          </p:cNvPr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52" name="Google Shape;60;p3">
              <a:extLst>
                <a:ext uri="{FF2B5EF4-FFF2-40B4-BE49-F238E27FC236}">
                  <a16:creationId xmlns:a16="http://schemas.microsoft.com/office/drawing/2014/main" xmlns="" id="{1559F5DA-B18D-651C-52F0-64E602F05161}"/>
                </a:ext>
              </a:extLst>
            </p:cNvPr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Q&amp;A</a:t>
              </a:r>
              <a:endParaRPr lang="en-US" sz="27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53" name="Google Shape;61;p3">
              <a:extLst>
                <a:ext uri="{FF2B5EF4-FFF2-40B4-BE49-F238E27FC236}">
                  <a16:creationId xmlns:a16="http://schemas.microsoft.com/office/drawing/2014/main" xmlns="" id="{3CA93381-05C7-6869-2C6A-D9F9CD9475D2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4" name="Google Shape;56;p3">
            <a:extLst>
              <a:ext uri="{FF2B5EF4-FFF2-40B4-BE49-F238E27FC236}">
                <a16:creationId xmlns:a16="http://schemas.microsoft.com/office/drawing/2014/main" xmlns="" id="{B16BFB6F-F05C-E902-F780-54F76DE8E1B1}"/>
              </a:ext>
            </a:extLst>
          </p:cNvPr>
          <p:cNvGrpSpPr/>
          <p:nvPr/>
        </p:nvGrpSpPr>
        <p:grpSpPr>
          <a:xfrm>
            <a:off x="2838827" y="5404125"/>
            <a:ext cx="8553420" cy="417186"/>
            <a:chOff x="571500" y="5165783"/>
            <a:chExt cx="5702280" cy="278124"/>
          </a:xfrm>
        </p:grpSpPr>
        <p:sp>
          <p:nvSpPr>
            <p:cNvPr id="55" name="Google Shape;57;p3">
              <a:extLst>
                <a:ext uri="{FF2B5EF4-FFF2-40B4-BE49-F238E27FC236}">
                  <a16:creationId xmlns:a16="http://schemas.microsoft.com/office/drawing/2014/main" xmlns="" id="{19ED329B-680C-2F4B-91C2-22D9456E29D7}"/>
                </a:ext>
              </a:extLst>
            </p:cNvPr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Methodology</a:t>
              </a:r>
            </a:p>
          </p:txBody>
        </p:sp>
        <p:sp>
          <p:nvSpPr>
            <p:cNvPr id="56" name="Google Shape;58;p3">
              <a:extLst>
                <a:ext uri="{FF2B5EF4-FFF2-40B4-BE49-F238E27FC236}">
                  <a16:creationId xmlns:a16="http://schemas.microsoft.com/office/drawing/2014/main" xmlns="" id="{ED519012-679F-022C-B285-26D9FB5ED4F1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7380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/>
          <p:cNvSpPr/>
          <p:nvPr/>
        </p:nvSpPr>
        <p:spPr>
          <a:xfrm>
            <a:off x="2262267" y="1405071"/>
            <a:ext cx="105129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</a:rPr>
              <a:t>Problem Statement</a:t>
            </a:r>
            <a:endParaRPr lang="en-US" sz="2700" dirty="0"/>
          </a:p>
        </p:txBody>
      </p:sp>
      <p:cxnSp>
        <p:nvCxnSpPr>
          <p:cNvPr id="41" name="Google Shape;41;p2"/>
          <p:cNvCxnSpPr>
            <a:cxnSpLocks/>
          </p:cNvCxnSpPr>
          <p:nvPr/>
        </p:nvCxnSpPr>
        <p:spPr>
          <a:xfrm>
            <a:off x="1459078" y="2723791"/>
            <a:ext cx="0" cy="6426209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1" name="Card 101"/>
          <p:cNvSpPr/>
          <p:nvPr/>
        </p:nvSpPr>
        <p:spPr>
          <a:xfrm>
            <a:off x="1866900" y="2500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02" name="Badge 102"/>
          <p:cNvSpPr/>
          <p:nvPr/>
        </p:nvSpPr>
        <p:spPr>
          <a:xfrm>
            <a:off x="2126900" y="2760000"/>
            <a:ext cx="720000" cy="72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600" b="1" dirty="0">
                <a:solidFill>
                  <a:srgbClr val="193EB0"/>
                </a:solidFill>
                <a:latin typeface="Calibri"/>
              </a:rPr>
              <a:t>1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2126900" y="3584448"/>
            <a:ext cx="6607100" cy="19385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700" b="0" dirty="0">
                <a:solidFill>
                  <a:srgbClr val="FFFFFF"/>
                </a:solidFill>
                <a:latin typeface="Calibri"/>
              </a:rPr>
              <a:t>EV drivers often arrive at charging stations and find all chargers busy, with no prior way to plan or check availability.</a:t>
            </a:r>
          </a:p>
        </p:txBody>
      </p:sp>
      <p:sp>
        <p:nvSpPr>
          <p:cNvPr id="104" name="Card 104"/>
          <p:cNvSpPr/>
          <p:nvPr/>
        </p:nvSpPr>
        <p:spPr>
          <a:xfrm>
            <a:off x="9294000" y="2500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05" name="Badge 105"/>
          <p:cNvSpPr/>
          <p:nvPr/>
        </p:nvSpPr>
        <p:spPr>
          <a:xfrm>
            <a:off x="9554000" y="2760000"/>
            <a:ext cx="720000" cy="72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600" b="1" dirty="0">
                <a:solidFill>
                  <a:srgbClr val="193EB0"/>
                </a:solidFill>
                <a:latin typeface="Calibri"/>
              </a:rPr>
              <a:t>2</a:t>
            </a:r>
          </a:p>
        </p:txBody>
      </p:sp>
      <p:sp>
        <p:nvSpPr>
          <p:cNvPr id="106" name="Text 106"/>
          <p:cNvSpPr txBox="1"/>
          <p:nvPr/>
        </p:nvSpPr>
        <p:spPr>
          <a:xfrm>
            <a:off x="9554000" y="3584448"/>
            <a:ext cx="6607100" cy="19385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700" b="0" dirty="0">
                <a:solidFill>
                  <a:srgbClr val="FFFFFF"/>
                </a:solidFill>
                <a:latin typeface="Calibri"/>
              </a:rPr>
              <a:t>Station operators are forced to manage bookings and walk-ins manually, leading to disorganization and difficult operations.</a:t>
            </a:r>
          </a:p>
        </p:txBody>
      </p:sp>
      <p:sp>
        <p:nvSpPr>
          <p:cNvPr id="107" name="Card 107"/>
          <p:cNvSpPr/>
          <p:nvPr/>
        </p:nvSpPr>
        <p:spPr>
          <a:xfrm>
            <a:off x="1866900" y="5975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08" name="Badge 108"/>
          <p:cNvSpPr/>
          <p:nvPr/>
        </p:nvSpPr>
        <p:spPr>
          <a:xfrm>
            <a:off x="2126900" y="6235000"/>
            <a:ext cx="720000" cy="72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600" b="1" dirty="0">
                <a:solidFill>
                  <a:srgbClr val="193EB0"/>
                </a:solidFill>
                <a:latin typeface="Calibri"/>
              </a:rPr>
              <a:t>3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2126900" y="7059168"/>
            <a:ext cx="6607100" cy="19385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700" b="0" dirty="0">
                <a:solidFill>
                  <a:srgbClr val="FFFFFF"/>
                </a:solidFill>
                <a:latin typeface="Calibri"/>
              </a:rPr>
              <a:t>Network managers lack clear visibility into which stations are overloaded, underutilized, or sitting idle.</a:t>
            </a:r>
          </a:p>
        </p:txBody>
      </p:sp>
      <p:sp>
        <p:nvSpPr>
          <p:cNvPr id="110" name="Card 110"/>
          <p:cNvSpPr/>
          <p:nvPr/>
        </p:nvSpPr>
        <p:spPr>
          <a:xfrm>
            <a:off x="9294000" y="5975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11" name="Badge 111"/>
          <p:cNvSpPr/>
          <p:nvPr/>
        </p:nvSpPr>
        <p:spPr>
          <a:xfrm>
            <a:off x="9554000" y="6235000"/>
            <a:ext cx="720000" cy="720000"/>
          </a:xfrm>
          <a:prstGeom prst="ellipse">
            <a:avLst/>
          </a:prstGeom>
          <a:solidFill>
            <a:srgbClr val="193EB0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6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9554000" y="7059168"/>
            <a:ext cx="6607100" cy="19385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700" b="0" dirty="0">
                <a:solidFill>
                  <a:srgbClr val="193EB0"/>
                </a:solidFill>
                <a:latin typeface="Calibri"/>
              </a:rPr>
              <a:t>ChargeSpot solves these issues by providing a structured platform for advance slot bookings, a fair waiting list queue, and precise session tracking.</a:t>
            </a:r>
          </a:p>
        </p:txBody>
      </p:sp>
    </p:spTree>
    <p:extLst>
      <p:ext uri="{BB962C8B-B14F-4D97-AF65-F5344CB8AC3E}">
        <p14:creationId xmlns:p14="http://schemas.microsoft.com/office/powerpoint/2010/main" val="3339282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0" b="1" dirty="0">
                <a:solidFill>
                  <a:schemeClr val="lt1"/>
                </a:solidFill>
              </a:rPr>
              <a:t>Agenda</a:t>
            </a:r>
            <a:endParaRPr sz="5000" b="1" dirty="0">
              <a:solidFill>
                <a:schemeClr val="lt1"/>
              </a:solidFill>
            </a:endParaRPr>
          </a:p>
        </p:txBody>
      </p:sp>
      <p:grpSp>
        <p:nvGrpSpPr>
          <p:cNvPr id="2" name="Google Shape;50;p3">
            <a:extLst>
              <a:ext uri="{FF2B5EF4-FFF2-40B4-BE49-F238E27FC236}">
                <a16:creationId xmlns:a16="http://schemas.microsoft.com/office/drawing/2014/main" xmlns="" id="{E2B5B782-5B12-44EC-DE2B-CFD7C0363A0A}"/>
              </a:ext>
            </a:extLst>
          </p:cNvPr>
          <p:cNvGrpSpPr/>
          <p:nvPr/>
        </p:nvGrpSpPr>
        <p:grpSpPr>
          <a:xfrm>
            <a:off x="2810560" y="3723114"/>
            <a:ext cx="8553420" cy="417183"/>
            <a:chOff x="571500" y="2336175"/>
            <a:chExt cx="5702280" cy="278122"/>
          </a:xfrm>
        </p:grpSpPr>
        <p:sp>
          <p:nvSpPr>
            <p:cNvPr id="3" name="Google Shape;51;p3">
              <a:extLst>
                <a:ext uri="{FF2B5EF4-FFF2-40B4-BE49-F238E27FC236}">
                  <a16:creationId xmlns:a16="http://schemas.microsoft.com/office/drawing/2014/main" xmlns="" id="{EC9CBDC3-46C4-05CD-6DD5-372C3499F721}"/>
                </a:ext>
              </a:extLst>
            </p:cNvPr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Team</a:t>
              </a:r>
              <a:endParaRPr sz="27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4" name="Google Shape;52;p3">
              <a:extLst>
                <a:ext uri="{FF2B5EF4-FFF2-40B4-BE49-F238E27FC236}">
                  <a16:creationId xmlns:a16="http://schemas.microsoft.com/office/drawing/2014/main" xmlns="" id="{C7838699-C280-E980-B759-2787620C175A}"/>
                </a:ext>
              </a:extLst>
            </p:cNvPr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" name="Google Shape;53;p3">
            <a:extLst>
              <a:ext uri="{FF2B5EF4-FFF2-40B4-BE49-F238E27FC236}">
                <a16:creationId xmlns:a16="http://schemas.microsoft.com/office/drawing/2014/main" xmlns="" id="{45390769-5DBD-5D20-6B29-C7D403F2253D}"/>
              </a:ext>
            </a:extLst>
          </p:cNvPr>
          <p:cNvGrpSpPr/>
          <p:nvPr/>
        </p:nvGrpSpPr>
        <p:grpSpPr>
          <a:xfrm>
            <a:off x="2819400" y="4837032"/>
            <a:ext cx="8553420" cy="417185"/>
            <a:chOff x="571500" y="3764860"/>
            <a:chExt cx="5702280" cy="278123"/>
          </a:xfrm>
        </p:grpSpPr>
        <p:sp>
          <p:nvSpPr>
            <p:cNvPr id="18" name="Google Shape;54;p3">
              <a:extLst>
                <a:ext uri="{FF2B5EF4-FFF2-40B4-BE49-F238E27FC236}">
                  <a16:creationId xmlns:a16="http://schemas.microsoft.com/office/drawing/2014/main" xmlns="" id="{F95E8AB1-C86C-5951-0C0A-796069300F7D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b="1" dirty="0">
                  <a:latin typeface="Arial" panose="020B0604020202020204" pitchFamily="34" charset="0"/>
                  <a:cs typeface="Arial" panose="020B0604020202020204" pitchFamily="34" charset="0"/>
                </a:rPr>
                <a:t>Introduction</a:t>
              </a:r>
            </a:p>
          </p:txBody>
        </p:sp>
        <p:sp>
          <p:nvSpPr>
            <p:cNvPr id="19" name="Google Shape;55;p3">
              <a:extLst>
                <a:ext uri="{FF2B5EF4-FFF2-40B4-BE49-F238E27FC236}">
                  <a16:creationId xmlns:a16="http://schemas.microsoft.com/office/drawing/2014/main" xmlns="" id="{89D57B8B-FE06-CC1A-1314-83365C8A16D2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" name="Google Shape;53;p3">
            <a:extLst>
              <a:ext uri="{FF2B5EF4-FFF2-40B4-BE49-F238E27FC236}">
                <a16:creationId xmlns:a16="http://schemas.microsoft.com/office/drawing/2014/main" xmlns="" id="{2FD0EABC-52F2-4414-C7E0-16AF5C8B4532}"/>
              </a:ext>
            </a:extLst>
          </p:cNvPr>
          <p:cNvGrpSpPr/>
          <p:nvPr/>
        </p:nvGrpSpPr>
        <p:grpSpPr>
          <a:xfrm>
            <a:off x="2814980" y="4275458"/>
            <a:ext cx="8553420" cy="417185"/>
            <a:chOff x="571500" y="3764860"/>
            <a:chExt cx="5702280" cy="278123"/>
          </a:xfrm>
        </p:grpSpPr>
        <p:sp>
          <p:nvSpPr>
            <p:cNvPr id="27" name="Google Shape;54;p3">
              <a:extLst>
                <a:ext uri="{FF2B5EF4-FFF2-40B4-BE49-F238E27FC236}">
                  <a16:creationId xmlns:a16="http://schemas.microsoft.com/office/drawing/2014/main" xmlns="" id="{C798BA73-F11F-0207-BB46-3A4648622ECF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Problem Statement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8" name="Google Shape;55;p3">
              <a:extLst>
                <a:ext uri="{FF2B5EF4-FFF2-40B4-BE49-F238E27FC236}">
                  <a16:creationId xmlns:a16="http://schemas.microsoft.com/office/drawing/2014/main" xmlns="" id="{17C2752D-50A8-62F0-8AA6-11C8C3B9AFF3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" name="Google Shape;59;p3">
            <a:extLst>
              <a:ext uri="{FF2B5EF4-FFF2-40B4-BE49-F238E27FC236}">
                <a16:creationId xmlns:a16="http://schemas.microsoft.com/office/drawing/2014/main" xmlns="" id="{54018E2D-36AB-1EDF-D600-D15897955066}"/>
              </a:ext>
            </a:extLst>
          </p:cNvPr>
          <p:cNvGrpSpPr/>
          <p:nvPr/>
        </p:nvGrpSpPr>
        <p:grpSpPr>
          <a:xfrm>
            <a:off x="2819400" y="5448300"/>
            <a:ext cx="8553420" cy="417167"/>
            <a:chOff x="571500" y="5165783"/>
            <a:chExt cx="5702280" cy="278111"/>
          </a:xfrm>
        </p:grpSpPr>
        <p:sp>
          <p:nvSpPr>
            <p:cNvPr id="24" name="Google Shape;60;p3">
              <a:extLst>
                <a:ext uri="{FF2B5EF4-FFF2-40B4-BE49-F238E27FC236}">
                  <a16:creationId xmlns:a16="http://schemas.microsoft.com/office/drawing/2014/main" xmlns="" id="{C284BEBB-714C-92CC-389B-E04930B213DE}"/>
                </a:ext>
              </a:extLst>
            </p:cNvPr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Methodology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5" name="Google Shape;61;p3">
              <a:extLst>
                <a:ext uri="{FF2B5EF4-FFF2-40B4-BE49-F238E27FC236}">
                  <a16:creationId xmlns:a16="http://schemas.microsoft.com/office/drawing/2014/main" xmlns="" id="{394F93CE-FA03-9F84-6741-14F9A46C6D20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" name="Google Shape;59;p3">
            <a:extLst>
              <a:ext uri="{FF2B5EF4-FFF2-40B4-BE49-F238E27FC236}">
                <a16:creationId xmlns:a16="http://schemas.microsoft.com/office/drawing/2014/main" xmlns="" id="{1BA0F404-A618-BA1C-0C1D-8354EB22E6B7}"/>
              </a:ext>
            </a:extLst>
          </p:cNvPr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30" name="Google Shape;60;p3">
              <a:extLst>
                <a:ext uri="{FF2B5EF4-FFF2-40B4-BE49-F238E27FC236}">
                  <a16:creationId xmlns:a16="http://schemas.microsoft.com/office/drawing/2014/main" xmlns="" id="{1FA5297E-EA5D-D0DB-126D-6DF8EC831E4D}"/>
                </a:ext>
              </a:extLst>
            </p:cNvPr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Results and Insights</a:t>
              </a:r>
            </a:p>
          </p:txBody>
        </p:sp>
        <p:sp>
          <p:nvSpPr>
            <p:cNvPr id="31" name="Google Shape;61;p3">
              <a:extLst>
                <a:ext uri="{FF2B5EF4-FFF2-40B4-BE49-F238E27FC236}">
                  <a16:creationId xmlns:a16="http://schemas.microsoft.com/office/drawing/2014/main" xmlns="" id="{4A19E93E-6108-ED16-243D-B4A0E6FBA9EE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" name="Google Shape;59;p3">
            <a:extLst>
              <a:ext uri="{FF2B5EF4-FFF2-40B4-BE49-F238E27FC236}">
                <a16:creationId xmlns:a16="http://schemas.microsoft.com/office/drawing/2014/main" xmlns="" id="{F8F1CAE1-CD2D-79C6-CB36-AD0CD87D5F1D}"/>
              </a:ext>
            </a:extLst>
          </p:cNvPr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33" name="Google Shape;60;p3">
              <a:extLst>
                <a:ext uri="{FF2B5EF4-FFF2-40B4-BE49-F238E27FC236}">
                  <a16:creationId xmlns:a16="http://schemas.microsoft.com/office/drawing/2014/main" xmlns="" id="{29A19AD9-EBB1-813C-D241-45CED0068827}"/>
                </a:ext>
              </a:extLst>
            </p:cNvPr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Conclusion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4" name="Google Shape;61;p3">
              <a:extLst>
                <a:ext uri="{FF2B5EF4-FFF2-40B4-BE49-F238E27FC236}">
                  <a16:creationId xmlns:a16="http://schemas.microsoft.com/office/drawing/2014/main" xmlns="" id="{857413E5-FA07-4665-D62C-D834A4A0AB29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59;p3">
            <a:extLst>
              <a:ext uri="{FF2B5EF4-FFF2-40B4-BE49-F238E27FC236}">
                <a16:creationId xmlns:a16="http://schemas.microsoft.com/office/drawing/2014/main" xmlns="" id="{30107B25-C25E-5ABC-C684-9F31E39AEF21}"/>
              </a:ext>
            </a:extLst>
          </p:cNvPr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36" name="Google Shape;60;p3">
              <a:extLst>
                <a:ext uri="{FF2B5EF4-FFF2-40B4-BE49-F238E27FC236}">
                  <a16:creationId xmlns:a16="http://schemas.microsoft.com/office/drawing/2014/main" xmlns="" id="{EB90A88A-2C73-1444-72B8-52AE73DCEBA7}"/>
                </a:ext>
              </a:extLst>
            </p:cNvPr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Q&amp;A</a:t>
              </a:r>
              <a:endParaRPr lang="en-US" sz="27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7" name="Google Shape;61;p3">
              <a:extLst>
                <a:ext uri="{FF2B5EF4-FFF2-40B4-BE49-F238E27FC236}">
                  <a16:creationId xmlns:a16="http://schemas.microsoft.com/office/drawing/2014/main" xmlns="" id="{9760B485-182A-D2A8-45B2-9C1A827E5D71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56;p3">
            <a:extLst>
              <a:ext uri="{FF2B5EF4-FFF2-40B4-BE49-F238E27FC236}">
                <a16:creationId xmlns:a16="http://schemas.microsoft.com/office/drawing/2014/main" xmlns="" id="{AEF15EDE-AECC-181D-01BA-8D9340B862DA}"/>
              </a:ext>
            </a:extLst>
          </p:cNvPr>
          <p:cNvGrpSpPr/>
          <p:nvPr/>
        </p:nvGrpSpPr>
        <p:grpSpPr>
          <a:xfrm>
            <a:off x="2819400" y="6134100"/>
            <a:ext cx="8553420" cy="417186"/>
            <a:chOff x="571500" y="5165783"/>
            <a:chExt cx="5702280" cy="278124"/>
          </a:xfrm>
        </p:grpSpPr>
        <p:sp>
          <p:nvSpPr>
            <p:cNvPr id="39" name="Google Shape;57;p3">
              <a:extLst>
                <a:ext uri="{FF2B5EF4-FFF2-40B4-BE49-F238E27FC236}">
                  <a16:creationId xmlns:a16="http://schemas.microsoft.com/office/drawing/2014/main" xmlns="" id="{5576E15D-48D3-A62E-5283-2B52E5068A79}"/>
                </a:ext>
              </a:extLst>
            </p:cNvPr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Key Tasks</a:t>
              </a:r>
            </a:p>
          </p:txBody>
        </p:sp>
        <p:sp>
          <p:nvSpPr>
            <p:cNvPr id="40" name="Google Shape;58;p3">
              <a:extLst>
                <a:ext uri="{FF2B5EF4-FFF2-40B4-BE49-F238E27FC236}">
                  <a16:creationId xmlns:a16="http://schemas.microsoft.com/office/drawing/2014/main" xmlns="" id="{4689994B-7F51-9019-DF8D-4081452D209A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9088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>
          <a:extLst>
            <a:ext uri="{FF2B5EF4-FFF2-40B4-BE49-F238E27FC236}">
              <a16:creationId xmlns:a16="http://schemas.microsoft.com/office/drawing/2014/main" xmlns="" id="{BD935EEB-1829-720A-F2BD-84312E78F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>
            <a:extLst>
              <a:ext uri="{FF2B5EF4-FFF2-40B4-BE49-F238E27FC236}">
                <a16:creationId xmlns:a16="http://schemas.microsoft.com/office/drawing/2014/main" xmlns="" id="{1E6CA563-94F9-3A91-64BB-6817C5634A08}"/>
              </a:ext>
            </a:extLst>
          </p:cNvPr>
          <p:cNvSpPr/>
          <p:nvPr/>
        </p:nvSpPr>
        <p:spPr>
          <a:xfrm>
            <a:off x="2249567" y="1123694"/>
            <a:ext cx="105129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</a:rPr>
              <a:t>Introduction</a:t>
            </a:r>
          </a:p>
        </p:txBody>
      </p:sp>
      <p:cxnSp>
        <p:nvCxnSpPr>
          <p:cNvPr id="41" name="Google Shape;41;p2">
            <a:extLst>
              <a:ext uri="{FF2B5EF4-FFF2-40B4-BE49-F238E27FC236}">
                <a16:creationId xmlns:a16="http://schemas.microsoft.com/office/drawing/2014/main" xmlns="" id="{F9B4CCB0-7FEE-107E-D1D6-139E4FD4BF57}"/>
              </a:ext>
            </a:extLst>
          </p:cNvPr>
          <p:cNvCxnSpPr>
            <a:cxnSpLocks/>
          </p:cNvCxnSpPr>
          <p:nvPr/>
        </p:nvCxnSpPr>
        <p:spPr>
          <a:xfrm>
            <a:off x="1447800" y="2392467"/>
            <a:ext cx="0" cy="6757533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3" name="Card 113"/>
          <p:cNvSpPr/>
          <p:nvPr/>
        </p:nvSpPr>
        <p:spPr>
          <a:xfrm>
            <a:off x="1866900" y="2500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14" name="Badge 114"/>
          <p:cNvSpPr/>
          <p:nvPr/>
        </p:nvSpPr>
        <p:spPr>
          <a:xfrm>
            <a:off x="2146900" y="2780000"/>
            <a:ext cx="650000" cy="65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193EB0"/>
                </a:solidFill>
                <a:latin typeface="Calibri"/>
              </a:rPr>
              <a:t>1</a:t>
            </a:r>
          </a:p>
        </p:txBody>
      </p:sp>
      <p:sp>
        <p:nvSpPr>
          <p:cNvPr id="115" name="Label 115"/>
          <p:cNvSpPr txBox="1"/>
          <p:nvPr/>
        </p:nvSpPr>
        <p:spPr>
          <a:xfrm>
            <a:off x="3076900" y="2780000"/>
            <a:ext cx="576072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ChargeSpot Overview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2146900" y="3511296"/>
            <a:ext cx="656710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500" b="0" dirty="0">
                <a:solidFill>
                  <a:srgbClr val="FFFFFF"/>
                </a:solidFill>
                <a:latin typeface="Calibri"/>
              </a:rPr>
              <a:t>ChargeSpot is a Streamlit application designed to streamline electric vehicle (EV) charging station management, reservation booking, and session analytics.</a:t>
            </a:r>
          </a:p>
        </p:txBody>
      </p:sp>
      <p:sp>
        <p:nvSpPr>
          <p:cNvPr id="117" name="Card 117"/>
          <p:cNvSpPr/>
          <p:nvPr/>
        </p:nvSpPr>
        <p:spPr>
          <a:xfrm>
            <a:off x="9294000" y="2500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18" name="Badge 118"/>
          <p:cNvSpPr/>
          <p:nvPr/>
        </p:nvSpPr>
        <p:spPr>
          <a:xfrm>
            <a:off x="9574000" y="2780000"/>
            <a:ext cx="650000" cy="65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193EB0"/>
                </a:solidFill>
                <a:latin typeface="Calibri"/>
              </a:rPr>
              <a:t>2</a:t>
            </a:r>
          </a:p>
        </p:txBody>
      </p:sp>
      <p:sp>
        <p:nvSpPr>
          <p:cNvPr id="119" name="Label 119"/>
          <p:cNvSpPr txBox="1"/>
          <p:nvPr/>
        </p:nvSpPr>
        <p:spPr>
          <a:xfrm>
            <a:off x="10504000" y="2780000"/>
            <a:ext cx="576072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Network Scale</a:t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9574000" y="3511296"/>
            <a:ext cx="656710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500" b="0" dirty="0">
                <a:solidFill>
                  <a:srgbClr val="FFFFFF"/>
                </a:solidFill>
                <a:latin typeface="Calibri"/>
              </a:rPr>
              <a:t>Built to manage a simulated network of 16 charging stations and 56 chargers across major locations in Cairo and Alexandria.</a:t>
            </a:r>
          </a:p>
        </p:txBody>
      </p:sp>
      <p:sp>
        <p:nvSpPr>
          <p:cNvPr id="121" name="Card 121"/>
          <p:cNvSpPr/>
          <p:nvPr/>
        </p:nvSpPr>
        <p:spPr>
          <a:xfrm>
            <a:off x="1866900" y="5975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22" name="Badge 122"/>
          <p:cNvSpPr/>
          <p:nvPr/>
        </p:nvSpPr>
        <p:spPr>
          <a:xfrm>
            <a:off x="2146900" y="6255000"/>
            <a:ext cx="650000" cy="65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193EB0"/>
                </a:solidFill>
                <a:latin typeface="Calibri"/>
              </a:rPr>
              <a:t>3</a:t>
            </a:r>
          </a:p>
        </p:txBody>
      </p:sp>
      <p:sp>
        <p:nvSpPr>
          <p:cNvPr id="123" name="Label 123"/>
          <p:cNvSpPr txBox="1"/>
          <p:nvPr/>
        </p:nvSpPr>
        <p:spPr>
          <a:xfrm>
            <a:off x="3076900" y="6255000"/>
            <a:ext cx="576072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Core Functionalities</a:t>
            </a:r>
          </a:p>
        </p:txBody>
      </p:sp>
      <p:sp>
        <p:nvSpPr>
          <p:cNvPr id="124" name="Text 124"/>
          <p:cNvSpPr txBox="1"/>
          <p:nvPr/>
        </p:nvSpPr>
        <p:spPr>
          <a:xfrm>
            <a:off x="2146900" y="6986016"/>
            <a:ext cx="656710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500" b="0" dirty="0">
                <a:solidFill>
                  <a:srgbClr val="FFFFFF"/>
                </a:solidFill>
                <a:latin typeface="Calibri"/>
              </a:rPr>
              <a:t>Features real-time charger status tracking, smart booking conflict prevention, a fair FIFO waiting list, and comprehensive data analytics.</a:t>
            </a:r>
          </a:p>
        </p:txBody>
      </p:sp>
      <p:sp>
        <p:nvSpPr>
          <p:cNvPr id="125" name="Card 125"/>
          <p:cNvSpPr/>
          <p:nvPr/>
        </p:nvSpPr>
        <p:spPr>
          <a:xfrm>
            <a:off x="9294000" y="5975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26" name="Badge 126"/>
          <p:cNvSpPr/>
          <p:nvPr/>
        </p:nvSpPr>
        <p:spPr>
          <a:xfrm>
            <a:off x="9574000" y="6255000"/>
            <a:ext cx="650000" cy="65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193EB0"/>
                </a:solidFill>
                <a:latin typeface="Calibri"/>
              </a:rPr>
              <a:t>4</a:t>
            </a:r>
          </a:p>
        </p:txBody>
      </p:sp>
      <p:sp>
        <p:nvSpPr>
          <p:cNvPr id="127" name="Label 127"/>
          <p:cNvSpPr txBox="1"/>
          <p:nvPr/>
        </p:nvSpPr>
        <p:spPr>
          <a:xfrm>
            <a:off x="10504000" y="6255000"/>
            <a:ext cx="576072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Multi-Role Support</a:t>
            </a:r>
          </a:p>
        </p:txBody>
      </p:sp>
      <p:sp>
        <p:nvSpPr>
          <p:cNvPr id="128" name="Text 128"/>
          <p:cNvSpPr txBox="1"/>
          <p:nvPr/>
        </p:nvSpPr>
        <p:spPr>
          <a:xfrm>
            <a:off x="9574000" y="6986016"/>
            <a:ext cx="656710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500" b="0" dirty="0">
                <a:solidFill>
                  <a:srgbClr val="FFFFFF"/>
                </a:solidFill>
                <a:latin typeface="Calibri"/>
              </a:rPr>
              <a:t>Offers customized dashboards and workflows tailored for three user roles: Drivers, Station Operators, and Administrators.</a:t>
            </a:r>
          </a:p>
        </p:txBody>
      </p:sp>
    </p:spTree>
    <p:extLst>
      <p:ext uri="{BB962C8B-B14F-4D97-AF65-F5344CB8AC3E}">
        <p14:creationId xmlns:p14="http://schemas.microsoft.com/office/powerpoint/2010/main" val="388963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0" b="1" dirty="0">
                <a:solidFill>
                  <a:schemeClr val="lt1"/>
                </a:solidFill>
              </a:rPr>
              <a:t>Agenda</a:t>
            </a:r>
            <a:endParaRPr sz="5000" b="1" dirty="0">
              <a:solidFill>
                <a:schemeClr val="lt1"/>
              </a:solidFill>
            </a:endParaRPr>
          </a:p>
        </p:txBody>
      </p:sp>
      <p:grpSp>
        <p:nvGrpSpPr>
          <p:cNvPr id="2" name="Google Shape;50;p3">
            <a:extLst>
              <a:ext uri="{FF2B5EF4-FFF2-40B4-BE49-F238E27FC236}">
                <a16:creationId xmlns:a16="http://schemas.microsoft.com/office/drawing/2014/main" xmlns="" id="{E2B5B782-5B12-44EC-DE2B-CFD7C0363A0A}"/>
              </a:ext>
            </a:extLst>
          </p:cNvPr>
          <p:cNvGrpSpPr/>
          <p:nvPr/>
        </p:nvGrpSpPr>
        <p:grpSpPr>
          <a:xfrm>
            <a:off x="2820107" y="3702613"/>
            <a:ext cx="8553420" cy="417183"/>
            <a:chOff x="571500" y="2336175"/>
            <a:chExt cx="5702280" cy="278122"/>
          </a:xfrm>
        </p:grpSpPr>
        <p:sp>
          <p:nvSpPr>
            <p:cNvPr id="3" name="Google Shape;51;p3">
              <a:extLst>
                <a:ext uri="{FF2B5EF4-FFF2-40B4-BE49-F238E27FC236}">
                  <a16:creationId xmlns:a16="http://schemas.microsoft.com/office/drawing/2014/main" xmlns="" id="{EC9CBDC3-46C4-05CD-6DD5-372C3499F721}"/>
                </a:ext>
              </a:extLst>
            </p:cNvPr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Team</a:t>
              </a:r>
              <a:endParaRPr sz="27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Google Shape;52;p3">
              <a:extLst>
                <a:ext uri="{FF2B5EF4-FFF2-40B4-BE49-F238E27FC236}">
                  <a16:creationId xmlns:a16="http://schemas.microsoft.com/office/drawing/2014/main" xmlns="" id="{C7838699-C280-E980-B759-2787620C175A}"/>
                </a:ext>
              </a:extLst>
            </p:cNvPr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" name="Google Shape;59;p3">
            <a:extLst>
              <a:ext uri="{FF2B5EF4-FFF2-40B4-BE49-F238E27FC236}">
                <a16:creationId xmlns:a16="http://schemas.microsoft.com/office/drawing/2014/main" xmlns="" id="{3C8824F9-5ABC-4EFF-668A-50A202A3809F}"/>
              </a:ext>
            </a:extLst>
          </p:cNvPr>
          <p:cNvGrpSpPr/>
          <p:nvPr/>
        </p:nvGrpSpPr>
        <p:grpSpPr>
          <a:xfrm>
            <a:off x="2819400" y="5448300"/>
            <a:ext cx="8553420" cy="417167"/>
            <a:chOff x="571500" y="5165783"/>
            <a:chExt cx="5702280" cy="278111"/>
          </a:xfrm>
        </p:grpSpPr>
        <p:sp>
          <p:nvSpPr>
            <p:cNvPr id="6" name="Google Shape;60;p3">
              <a:extLst>
                <a:ext uri="{FF2B5EF4-FFF2-40B4-BE49-F238E27FC236}">
                  <a16:creationId xmlns:a16="http://schemas.microsoft.com/office/drawing/2014/main" xmlns="" id="{110235D1-3508-1C69-D303-3222F55949D0}"/>
                </a:ext>
              </a:extLst>
            </p:cNvPr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b="1" dirty="0"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Methodology</a:t>
              </a:r>
              <a:endParaRPr lang="en-US" sz="3600" b="1" dirty="0"/>
            </a:p>
          </p:txBody>
        </p:sp>
        <p:sp>
          <p:nvSpPr>
            <p:cNvPr id="7" name="Google Shape;61;p3">
              <a:extLst>
                <a:ext uri="{FF2B5EF4-FFF2-40B4-BE49-F238E27FC236}">
                  <a16:creationId xmlns:a16="http://schemas.microsoft.com/office/drawing/2014/main" xmlns="" id="{E6458DC3-59A4-0EBF-A289-048FA7A60A77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" name="Google Shape;59;p3">
            <a:extLst>
              <a:ext uri="{FF2B5EF4-FFF2-40B4-BE49-F238E27FC236}">
                <a16:creationId xmlns:a16="http://schemas.microsoft.com/office/drawing/2014/main" xmlns="" id="{0E83B93D-FB8E-813F-FBA1-1E0AA2590DF9}"/>
              </a:ext>
            </a:extLst>
          </p:cNvPr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9" name="Google Shape;60;p3">
              <a:extLst>
                <a:ext uri="{FF2B5EF4-FFF2-40B4-BE49-F238E27FC236}">
                  <a16:creationId xmlns:a16="http://schemas.microsoft.com/office/drawing/2014/main" xmlns="" id="{FDE556D7-EC6D-1D09-60BA-1733684DF161}"/>
                </a:ext>
              </a:extLst>
            </p:cNvPr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Results and Insights</a:t>
              </a:r>
            </a:p>
          </p:txBody>
        </p:sp>
        <p:sp>
          <p:nvSpPr>
            <p:cNvPr id="10" name="Google Shape;61;p3">
              <a:extLst>
                <a:ext uri="{FF2B5EF4-FFF2-40B4-BE49-F238E27FC236}">
                  <a16:creationId xmlns:a16="http://schemas.microsoft.com/office/drawing/2014/main" xmlns="" id="{6277DDF3-91B1-AA00-1386-A1A6AE3E8793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" name="Google Shape;59;p3">
            <a:extLst>
              <a:ext uri="{FF2B5EF4-FFF2-40B4-BE49-F238E27FC236}">
                <a16:creationId xmlns:a16="http://schemas.microsoft.com/office/drawing/2014/main" xmlns="" id="{3CA8EB46-EC47-6EAB-45AB-35AABA7AD741}"/>
              </a:ext>
            </a:extLst>
          </p:cNvPr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12" name="Google Shape;60;p3">
              <a:extLst>
                <a:ext uri="{FF2B5EF4-FFF2-40B4-BE49-F238E27FC236}">
                  <a16:creationId xmlns:a16="http://schemas.microsoft.com/office/drawing/2014/main" xmlns="" id="{2231DFCB-7FA7-1BBF-5F08-CDF456B44596}"/>
                </a:ext>
              </a:extLst>
            </p:cNvPr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Conclusion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3" name="Google Shape;61;p3">
              <a:extLst>
                <a:ext uri="{FF2B5EF4-FFF2-40B4-BE49-F238E27FC236}">
                  <a16:creationId xmlns:a16="http://schemas.microsoft.com/office/drawing/2014/main" xmlns="" id="{5EF8DC89-3F49-24B6-3A27-FDD5D5F053DC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" name="Google Shape;59;p3">
            <a:extLst>
              <a:ext uri="{FF2B5EF4-FFF2-40B4-BE49-F238E27FC236}">
                <a16:creationId xmlns:a16="http://schemas.microsoft.com/office/drawing/2014/main" xmlns="" id="{A19A8D05-497D-B04B-F2FA-1D1B5594F206}"/>
              </a:ext>
            </a:extLst>
          </p:cNvPr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15" name="Google Shape;60;p3">
              <a:extLst>
                <a:ext uri="{FF2B5EF4-FFF2-40B4-BE49-F238E27FC236}">
                  <a16:creationId xmlns:a16="http://schemas.microsoft.com/office/drawing/2014/main" xmlns="" id="{AD80F6BE-9137-46A3-7D4B-B3F6D935D845}"/>
                </a:ext>
              </a:extLst>
            </p:cNvPr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Q&amp;A</a:t>
              </a:r>
              <a:endParaRPr lang="en-US" sz="27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6" name="Google Shape;61;p3">
              <a:extLst>
                <a:ext uri="{FF2B5EF4-FFF2-40B4-BE49-F238E27FC236}">
                  <a16:creationId xmlns:a16="http://schemas.microsoft.com/office/drawing/2014/main" xmlns="" id="{349DEBB7-FAA1-C511-4D90-C55FABEDE3E8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" name="Google Shape;53;p3">
            <a:extLst>
              <a:ext uri="{FF2B5EF4-FFF2-40B4-BE49-F238E27FC236}">
                <a16:creationId xmlns:a16="http://schemas.microsoft.com/office/drawing/2014/main" xmlns="" id="{45390769-5DBD-5D20-6B29-C7D403F2253D}"/>
              </a:ext>
            </a:extLst>
          </p:cNvPr>
          <p:cNvGrpSpPr/>
          <p:nvPr/>
        </p:nvGrpSpPr>
        <p:grpSpPr>
          <a:xfrm>
            <a:off x="2819400" y="4819607"/>
            <a:ext cx="8553420" cy="417185"/>
            <a:chOff x="571500" y="3764860"/>
            <a:chExt cx="5702280" cy="278123"/>
          </a:xfrm>
        </p:grpSpPr>
        <p:sp>
          <p:nvSpPr>
            <p:cNvPr id="18" name="Google Shape;54;p3">
              <a:extLst>
                <a:ext uri="{FF2B5EF4-FFF2-40B4-BE49-F238E27FC236}">
                  <a16:creationId xmlns:a16="http://schemas.microsoft.com/office/drawing/2014/main" xmlns="" id="{F95E8AB1-C86C-5951-0C0A-796069300F7D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Introduction</a:t>
              </a:r>
            </a:p>
          </p:txBody>
        </p:sp>
        <p:sp>
          <p:nvSpPr>
            <p:cNvPr id="19" name="Google Shape;55;p3">
              <a:extLst>
                <a:ext uri="{FF2B5EF4-FFF2-40B4-BE49-F238E27FC236}">
                  <a16:creationId xmlns:a16="http://schemas.microsoft.com/office/drawing/2014/main" xmlns="" id="{89D57B8B-FE06-CC1A-1314-83365C8A16D2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" name="Google Shape;56;p3">
            <a:extLst>
              <a:ext uri="{FF2B5EF4-FFF2-40B4-BE49-F238E27FC236}">
                <a16:creationId xmlns:a16="http://schemas.microsoft.com/office/drawing/2014/main" xmlns="" id="{F008D7E0-5724-D67D-06AA-9C1725D5BFDC}"/>
              </a:ext>
            </a:extLst>
          </p:cNvPr>
          <p:cNvGrpSpPr/>
          <p:nvPr/>
        </p:nvGrpSpPr>
        <p:grpSpPr>
          <a:xfrm>
            <a:off x="2819400" y="6057900"/>
            <a:ext cx="8553420" cy="417186"/>
            <a:chOff x="571500" y="5165783"/>
            <a:chExt cx="5702280" cy="278124"/>
          </a:xfrm>
        </p:grpSpPr>
        <p:sp>
          <p:nvSpPr>
            <p:cNvPr id="21" name="Google Shape;57;p3">
              <a:extLst>
                <a:ext uri="{FF2B5EF4-FFF2-40B4-BE49-F238E27FC236}">
                  <a16:creationId xmlns:a16="http://schemas.microsoft.com/office/drawing/2014/main" xmlns="" id="{91F47DB6-1F13-BCA9-1F4A-C0BE191FBDAC}"/>
                </a:ext>
              </a:extLst>
            </p:cNvPr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Key Tasks</a:t>
              </a:r>
            </a:p>
          </p:txBody>
        </p:sp>
        <p:sp>
          <p:nvSpPr>
            <p:cNvPr id="22" name="Google Shape;58;p3">
              <a:extLst>
                <a:ext uri="{FF2B5EF4-FFF2-40B4-BE49-F238E27FC236}">
                  <a16:creationId xmlns:a16="http://schemas.microsoft.com/office/drawing/2014/main" xmlns="" id="{6A8D02FD-47C3-273C-A1A4-117CD8F6C287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" name="Google Shape;53;p3">
            <a:extLst>
              <a:ext uri="{FF2B5EF4-FFF2-40B4-BE49-F238E27FC236}">
                <a16:creationId xmlns:a16="http://schemas.microsoft.com/office/drawing/2014/main" xmlns="" id="{2FD0EABC-52F2-4414-C7E0-16AF5C8B4532}"/>
              </a:ext>
            </a:extLst>
          </p:cNvPr>
          <p:cNvGrpSpPr/>
          <p:nvPr/>
        </p:nvGrpSpPr>
        <p:grpSpPr>
          <a:xfrm>
            <a:off x="2819400" y="4209809"/>
            <a:ext cx="8553420" cy="417185"/>
            <a:chOff x="571500" y="3764860"/>
            <a:chExt cx="5702280" cy="278123"/>
          </a:xfrm>
        </p:grpSpPr>
        <p:sp>
          <p:nvSpPr>
            <p:cNvPr id="27" name="Google Shape;54;p3">
              <a:extLst>
                <a:ext uri="{FF2B5EF4-FFF2-40B4-BE49-F238E27FC236}">
                  <a16:creationId xmlns:a16="http://schemas.microsoft.com/office/drawing/2014/main" xmlns="" id="{C798BA73-F11F-0207-BB46-3A4648622ECF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Problem Statement</a:t>
              </a:r>
              <a:endParaRPr lang="en-US" sz="36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8" name="Google Shape;55;p3">
              <a:extLst>
                <a:ext uri="{FF2B5EF4-FFF2-40B4-BE49-F238E27FC236}">
                  <a16:creationId xmlns:a16="http://schemas.microsoft.com/office/drawing/2014/main" xmlns="" id="{17C2752D-50A8-62F0-8AA6-11C8C3B9AFF3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031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>
          <a:extLst>
            <a:ext uri="{FF2B5EF4-FFF2-40B4-BE49-F238E27FC236}">
              <a16:creationId xmlns:a16="http://schemas.microsoft.com/office/drawing/2014/main" xmlns="" id="{70BDCBBA-0ABD-1800-1210-090CD27AB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>
            <a:extLst>
              <a:ext uri="{FF2B5EF4-FFF2-40B4-BE49-F238E27FC236}">
                <a16:creationId xmlns:a16="http://schemas.microsoft.com/office/drawing/2014/main" xmlns="" id="{5067AE8F-15ED-2846-3D82-4CD51BD1DF65}"/>
              </a:ext>
            </a:extLst>
          </p:cNvPr>
          <p:cNvSpPr/>
          <p:nvPr/>
        </p:nvSpPr>
        <p:spPr>
          <a:xfrm>
            <a:off x="2249567" y="1123694"/>
            <a:ext cx="105129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Methodology</a:t>
            </a:r>
            <a:endParaRPr lang="en-US" sz="6600" dirty="0">
              <a:solidFill>
                <a:schemeClr val="lt1"/>
              </a:solidFill>
              <a:ea typeface="Calibri"/>
              <a:cs typeface="Calibri"/>
            </a:endParaRPr>
          </a:p>
        </p:txBody>
      </p:sp>
      <p:cxnSp>
        <p:nvCxnSpPr>
          <p:cNvPr id="41" name="Google Shape;41;p2">
            <a:extLst>
              <a:ext uri="{FF2B5EF4-FFF2-40B4-BE49-F238E27FC236}">
                <a16:creationId xmlns:a16="http://schemas.microsoft.com/office/drawing/2014/main" xmlns="" id="{F0477620-3DF6-2992-DF61-40D9DFE5918D}"/>
              </a:ext>
            </a:extLst>
          </p:cNvPr>
          <p:cNvCxnSpPr>
            <a:cxnSpLocks/>
          </p:cNvCxnSpPr>
          <p:nvPr/>
        </p:nvCxnSpPr>
        <p:spPr>
          <a:xfrm>
            <a:off x="1447800" y="2392467"/>
            <a:ext cx="0" cy="6757533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9" name="Card 129"/>
          <p:cNvSpPr/>
          <p:nvPr/>
        </p:nvSpPr>
        <p:spPr>
          <a:xfrm>
            <a:off x="1866900" y="2500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30" name="Badge 130"/>
          <p:cNvSpPr/>
          <p:nvPr/>
        </p:nvSpPr>
        <p:spPr>
          <a:xfrm>
            <a:off x="2146900" y="2780000"/>
            <a:ext cx="650000" cy="65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193EB0"/>
                </a:solidFill>
                <a:latin typeface="Calibri"/>
              </a:rPr>
              <a:t>1</a:t>
            </a:r>
          </a:p>
        </p:txBody>
      </p:sp>
      <p:sp>
        <p:nvSpPr>
          <p:cNvPr id="131" name="Label 131"/>
          <p:cNvSpPr txBox="1"/>
          <p:nvPr/>
        </p:nvSpPr>
        <p:spPr>
          <a:xfrm>
            <a:off x="3076900" y="2780000"/>
            <a:ext cx="576072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Modular System Architecture</a:t>
            </a:r>
          </a:p>
        </p:txBody>
      </p:sp>
      <p:sp>
        <p:nvSpPr>
          <p:cNvPr id="132" name="Text 132"/>
          <p:cNvSpPr txBox="1"/>
          <p:nvPr/>
        </p:nvSpPr>
        <p:spPr>
          <a:xfrm>
            <a:off x="2146900" y="3511296"/>
            <a:ext cx="656710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250" b="0" dirty="0">
                <a:solidFill>
                  <a:srgbClr val="FFFFFF"/>
                </a:solidFill>
                <a:latin typeface="Calibri"/>
              </a:rPr>
              <a:t>Organized code structure into clear layers separating data models (</a:t>
            </a:r>
            <a:r>
              <a:rPr lang="en-US" sz="2250" b="0" dirty="0" smtClean="0">
                <a:solidFill>
                  <a:srgbClr val="FFFFFF"/>
                </a:solidFill>
                <a:latin typeface="Calibri"/>
              </a:rPr>
              <a:t>models), </a:t>
            </a:r>
            <a:r>
              <a:rPr lang="en-US" sz="2250" b="0" dirty="0">
                <a:solidFill>
                  <a:srgbClr val="FFFFFF"/>
                </a:solidFill>
                <a:latin typeface="Calibri"/>
              </a:rPr>
              <a:t>business logic (</a:t>
            </a:r>
            <a:r>
              <a:rPr lang="en-US" sz="2250" b="0" dirty="0" smtClean="0">
                <a:solidFill>
                  <a:srgbClr val="FFFFFF"/>
                </a:solidFill>
                <a:latin typeface="Calibri"/>
              </a:rPr>
              <a:t>services), </a:t>
            </a:r>
            <a:r>
              <a:rPr lang="en-US" sz="2250" b="0" dirty="0">
                <a:solidFill>
                  <a:srgbClr val="FFFFFF"/>
                </a:solidFill>
                <a:latin typeface="Calibri"/>
              </a:rPr>
              <a:t>custom algorithms (</a:t>
            </a:r>
            <a:r>
              <a:rPr lang="en-US" sz="2250" b="0" dirty="0" smtClean="0">
                <a:solidFill>
                  <a:srgbClr val="FFFFFF"/>
                </a:solidFill>
                <a:latin typeface="Calibri"/>
              </a:rPr>
              <a:t>algorithms), </a:t>
            </a:r>
            <a:r>
              <a:rPr lang="en-US" sz="2250" b="0" dirty="0">
                <a:solidFill>
                  <a:srgbClr val="FFFFFF"/>
                </a:solidFill>
                <a:latin typeface="Calibri"/>
              </a:rPr>
              <a:t>and UI components (</a:t>
            </a:r>
            <a:r>
              <a:rPr lang="en-US" sz="2250" b="0" dirty="0" smtClean="0">
                <a:solidFill>
                  <a:srgbClr val="FFFFFF"/>
                </a:solidFill>
                <a:latin typeface="Calibri"/>
              </a:rPr>
              <a:t>pages).</a:t>
            </a:r>
            <a:endParaRPr lang="en-US" sz="225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3" name="Card 133"/>
          <p:cNvSpPr/>
          <p:nvPr/>
        </p:nvSpPr>
        <p:spPr>
          <a:xfrm>
            <a:off x="9294000" y="2500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34" name="Badge 134"/>
          <p:cNvSpPr/>
          <p:nvPr/>
        </p:nvSpPr>
        <p:spPr>
          <a:xfrm>
            <a:off x="9574000" y="2780000"/>
            <a:ext cx="650000" cy="65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193EB0"/>
                </a:solidFill>
                <a:latin typeface="Calibri"/>
              </a:rPr>
              <a:t>2</a:t>
            </a:r>
          </a:p>
        </p:txBody>
      </p:sp>
      <p:sp>
        <p:nvSpPr>
          <p:cNvPr id="135" name="Label 135"/>
          <p:cNvSpPr txBox="1"/>
          <p:nvPr/>
        </p:nvSpPr>
        <p:spPr>
          <a:xfrm>
            <a:off x="10504000" y="2780000"/>
            <a:ext cx="576072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Object-Oriented Design (OOP)</a:t>
            </a:r>
          </a:p>
        </p:txBody>
      </p:sp>
      <p:sp>
        <p:nvSpPr>
          <p:cNvPr id="136" name="Text 136"/>
          <p:cNvSpPr txBox="1"/>
          <p:nvPr/>
        </p:nvSpPr>
        <p:spPr>
          <a:xfrm>
            <a:off x="9574000" y="3511296"/>
            <a:ext cx="656710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250" b="0" dirty="0">
                <a:solidFill>
                  <a:srgbClr val="FFFFFF"/>
                </a:solidFill>
                <a:latin typeface="Calibri"/>
              </a:rPr>
              <a:t>Applied OOP principles including inheritance and polymorphism, featuring a base Charger class extended into specialized ACCharger and DCCharger subclasses.</a:t>
            </a:r>
          </a:p>
        </p:txBody>
      </p:sp>
      <p:sp>
        <p:nvSpPr>
          <p:cNvPr id="137" name="Card 137"/>
          <p:cNvSpPr/>
          <p:nvPr/>
        </p:nvSpPr>
        <p:spPr>
          <a:xfrm>
            <a:off x="1866900" y="5975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38" name="Badge 138"/>
          <p:cNvSpPr/>
          <p:nvPr/>
        </p:nvSpPr>
        <p:spPr>
          <a:xfrm>
            <a:off x="2146900" y="6255000"/>
            <a:ext cx="650000" cy="65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193EB0"/>
                </a:solidFill>
                <a:latin typeface="Calibri"/>
              </a:rPr>
              <a:t>3</a:t>
            </a:r>
          </a:p>
        </p:txBody>
      </p:sp>
      <p:sp>
        <p:nvSpPr>
          <p:cNvPr id="139" name="Label 139"/>
          <p:cNvSpPr txBox="1"/>
          <p:nvPr/>
        </p:nvSpPr>
        <p:spPr>
          <a:xfrm>
            <a:off x="3076900" y="6255000"/>
            <a:ext cx="576072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Custom Algorithms &amp; Data Structures</a:t>
            </a:r>
          </a:p>
        </p:txBody>
      </p:sp>
      <p:sp>
        <p:nvSpPr>
          <p:cNvPr id="140" name="Text 140"/>
          <p:cNvSpPr txBox="1"/>
          <p:nvPr/>
        </p:nvSpPr>
        <p:spPr>
          <a:xfrm>
            <a:off x="2146900" y="6986016"/>
            <a:ext cx="656710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250" b="0" dirty="0">
                <a:solidFill>
                  <a:srgbClr val="FFFFFF"/>
                </a:solidFill>
                <a:latin typeface="Calibri"/>
              </a:rPr>
              <a:t>Implemented manual data structures and algorithms without reliance on built-in utilities, including a Stack for undo actions, a FIFO Queue for waiting lists, a Hash Table for ID lookups, Merge Sort, and Greedy Scheduling.</a:t>
            </a:r>
          </a:p>
        </p:txBody>
      </p:sp>
      <p:sp>
        <p:nvSpPr>
          <p:cNvPr id="141" name="Card 141"/>
          <p:cNvSpPr/>
          <p:nvPr/>
        </p:nvSpPr>
        <p:spPr>
          <a:xfrm>
            <a:off x="9294000" y="5975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42" name="Badge 142"/>
          <p:cNvSpPr/>
          <p:nvPr/>
        </p:nvSpPr>
        <p:spPr>
          <a:xfrm>
            <a:off x="9574000" y="6255000"/>
            <a:ext cx="650000" cy="65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193EB0"/>
                </a:solidFill>
                <a:latin typeface="Calibri"/>
              </a:rPr>
              <a:t>4</a:t>
            </a:r>
          </a:p>
        </p:txBody>
      </p:sp>
      <p:sp>
        <p:nvSpPr>
          <p:cNvPr id="143" name="Label 143"/>
          <p:cNvSpPr txBox="1"/>
          <p:nvPr/>
        </p:nvSpPr>
        <p:spPr>
          <a:xfrm>
            <a:off x="10504000" y="6255000"/>
            <a:ext cx="576072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Data Processing &amp; Streamlit UX</a:t>
            </a:r>
          </a:p>
        </p:txBody>
      </p:sp>
      <p:sp>
        <p:nvSpPr>
          <p:cNvPr id="144" name="Text 144"/>
          <p:cNvSpPr txBox="1"/>
          <p:nvPr/>
        </p:nvSpPr>
        <p:spPr>
          <a:xfrm>
            <a:off x="9574000" y="6986016"/>
            <a:ext cx="656710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250" b="0" dirty="0">
                <a:solidFill>
                  <a:srgbClr val="FFFFFF"/>
                </a:solidFill>
                <a:latin typeface="Calibri"/>
              </a:rPr>
              <a:t>Utilized Pandas for synthetic dataset cleaning, transformation, and metrics calculation, wrapped in an interactive Streamlit interface with dynamic role-based access control.</a:t>
            </a:r>
          </a:p>
        </p:txBody>
      </p:sp>
    </p:spTree>
    <p:extLst>
      <p:ext uri="{BB962C8B-B14F-4D97-AF65-F5344CB8AC3E}">
        <p14:creationId xmlns:p14="http://schemas.microsoft.com/office/powerpoint/2010/main" val="791814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0" b="1" dirty="0">
                <a:solidFill>
                  <a:schemeClr val="lt1"/>
                </a:solidFill>
              </a:rPr>
              <a:t>Agenda</a:t>
            </a:r>
            <a:endParaRPr sz="5000" b="1" dirty="0">
              <a:solidFill>
                <a:schemeClr val="lt1"/>
              </a:solidFill>
            </a:endParaRPr>
          </a:p>
        </p:txBody>
      </p:sp>
      <p:grpSp>
        <p:nvGrpSpPr>
          <p:cNvPr id="2" name="Google Shape;50;p3">
            <a:extLst>
              <a:ext uri="{FF2B5EF4-FFF2-40B4-BE49-F238E27FC236}">
                <a16:creationId xmlns:a16="http://schemas.microsoft.com/office/drawing/2014/main" xmlns="" id="{E2B5B782-5B12-44EC-DE2B-CFD7C0363A0A}"/>
              </a:ext>
            </a:extLst>
          </p:cNvPr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3" name="Google Shape;51;p3">
              <a:extLst>
                <a:ext uri="{FF2B5EF4-FFF2-40B4-BE49-F238E27FC236}">
                  <a16:creationId xmlns:a16="http://schemas.microsoft.com/office/drawing/2014/main" xmlns="" id="{EC9CBDC3-46C4-05CD-6DD5-372C3499F721}"/>
                </a:ext>
              </a:extLst>
            </p:cNvPr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Team</a:t>
              </a:r>
              <a:endParaRPr sz="27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Google Shape;52;p3">
              <a:extLst>
                <a:ext uri="{FF2B5EF4-FFF2-40B4-BE49-F238E27FC236}">
                  <a16:creationId xmlns:a16="http://schemas.microsoft.com/office/drawing/2014/main" xmlns="" id="{C7838699-C280-E980-B759-2787620C175A}"/>
                </a:ext>
              </a:extLst>
            </p:cNvPr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" name="Google Shape;59;p3">
            <a:extLst>
              <a:ext uri="{FF2B5EF4-FFF2-40B4-BE49-F238E27FC236}">
                <a16:creationId xmlns:a16="http://schemas.microsoft.com/office/drawing/2014/main" xmlns="" id="{3C8824F9-5ABC-4EFF-668A-50A202A3809F}"/>
              </a:ext>
            </a:extLst>
          </p:cNvPr>
          <p:cNvGrpSpPr/>
          <p:nvPr/>
        </p:nvGrpSpPr>
        <p:grpSpPr>
          <a:xfrm>
            <a:off x="2819400" y="5448300"/>
            <a:ext cx="8553420" cy="417167"/>
            <a:chOff x="571500" y="5165783"/>
            <a:chExt cx="5702280" cy="278111"/>
          </a:xfrm>
        </p:grpSpPr>
        <p:sp>
          <p:nvSpPr>
            <p:cNvPr id="6" name="Google Shape;60;p3">
              <a:extLst>
                <a:ext uri="{FF2B5EF4-FFF2-40B4-BE49-F238E27FC236}">
                  <a16:creationId xmlns:a16="http://schemas.microsoft.com/office/drawing/2014/main" xmlns="" id="{110235D1-3508-1C69-D303-3222F55949D0}"/>
                </a:ext>
              </a:extLst>
            </p:cNvPr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Methodology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7" name="Google Shape;61;p3">
              <a:extLst>
                <a:ext uri="{FF2B5EF4-FFF2-40B4-BE49-F238E27FC236}">
                  <a16:creationId xmlns:a16="http://schemas.microsoft.com/office/drawing/2014/main" xmlns="" id="{E6458DC3-59A4-0EBF-A289-048FA7A60A77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" name="Google Shape;59;p3">
            <a:extLst>
              <a:ext uri="{FF2B5EF4-FFF2-40B4-BE49-F238E27FC236}">
                <a16:creationId xmlns:a16="http://schemas.microsoft.com/office/drawing/2014/main" xmlns="" id="{0E83B93D-FB8E-813F-FBA1-1E0AA2590DF9}"/>
              </a:ext>
            </a:extLst>
          </p:cNvPr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9" name="Google Shape;60;p3">
              <a:extLst>
                <a:ext uri="{FF2B5EF4-FFF2-40B4-BE49-F238E27FC236}">
                  <a16:creationId xmlns:a16="http://schemas.microsoft.com/office/drawing/2014/main" xmlns="" id="{FDE556D7-EC6D-1D09-60BA-1733684DF161}"/>
                </a:ext>
              </a:extLst>
            </p:cNvPr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Results and Insights</a:t>
              </a:r>
            </a:p>
          </p:txBody>
        </p:sp>
        <p:sp>
          <p:nvSpPr>
            <p:cNvPr id="10" name="Google Shape;61;p3">
              <a:extLst>
                <a:ext uri="{FF2B5EF4-FFF2-40B4-BE49-F238E27FC236}">
                  <a16:creationId xmlns:a16="http://schemas.microsoft.com/office/drawing/2014/main" xmlns="" id="{6277DDF3-91B1-AA00-1386-A1A6AE3E8793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" name="Google Shape;59;p3">
            <a:extLst>
              <a:ext uri="{FF2B5EF4-FFF2-40B4-BE49-F238E27FC236}">
                <a16:creationId xmlns:a16="http://schemas.microsoft.com/office/drawing/2014/main" xmlns="" id="{3CA8EB46-EC47-6EAB-45AB-35AABA7AD741}"/>
              </a:ext>
            </a:extLst>
          </p:cNvPr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12" name="Google Shape;60;p3">
              <a:extLst>
                <a:ext uri="{FF2B5EF4-FFF2-40B4-BE49-F238E27FC236}">
                  <a16:creationId xmlns:a16="http://schemas.microsoft.com/office/drawing/2014/main" xmlns="" id="{2231DFCB-7FA7-1BBF-5F08-CDF456B44596}"/>
                </a:ext>
              </a:extLst>
            </p:cNvPr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Conclusion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3" name="Google Shape;61;p3">
              <a:extLst>
                <a:ext uri="{FF2B5EF4-FFF2-40B4-BE49-F238E27FC236}">
                  <a16:creationId xmlns:a16="http://schemas.microsoft.com/office/drawing/2014/main" xmlns="" id="{5EF8DC89-3F49-24B6-3A27-FDD5D5F053DC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" name="Google Shape;59;p3">
            <a:extLst>
              <a:ext uri="{FF2B5EF4-FFF2-40B4-BE49-F238E27FC236}">
                <a16:creationId xmlns:a16="http://schemas.microsoft.com/office/drawing/2014/main" xmlns="" id="{A19A8D05-497D-B04B-F2FA-1D1B5594F206}"/>
              </a:ext>
            </a:extLst>
          </p:cNvPr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15" name="Google Shape;60;p3">
              <a:extLst>
                <a:ext uri="{FF2B5EF4-FFF2-40B4-BE49-F238E27FC236}">
                  <a16:creationId xmlns:a16="http://schemas.microsoft.com/office/drawing/2014/main" xmlns="" id="{AD80F6BE-9137-46A3-7D4B-B3F6D935D845}"/>
                </a:ext>
              </a:extLst>
            </p:cNvPr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Q&amp;A</a:t>
              </a:r>
              <a:endParaRPr lang="en-US" sz="27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6" name="Google Shape;61;p3">
              <a:extLst>
                <a:ext uri="{FF2B5EF4-FFF2-40B4-BE49-F238E27FC236}">
                  <a16:creationId xmlns:a16="http://schemas.microsoft.com/office/drawing/2014/main" xmlns="" id="{349DEBB7-FAA1-C511-4D90-C55FABEDE3E8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" name="Google Shape;53;p3">
            <a:extLst>
              <a:ext uri="{FF2B5EF4-FFF2-40B4-BE49-F238E27FC236}">
                <a16:creationId xmlns:a16="http://schemas.microsoft.com/office/drawing/2014/main" xmlns="" id="{45390769-5DBD-5D20-6B29-C7D403F2253D}"/>
              </a:ext>
            </a:extLst>
          </p:cNvPr>
          <p:cNvGrpSpPr/>
          <p:nvPr/>
        </p:nvGrpSpPr>
        <p:grpSpPr>
          <a:xfrm>
            <a:off x="2832760" y="4835278"/>
            <a:ext cx="8553420" cy="417185"/>
            <a:chOff x="571500" y="3764860"/>
            <a:chExt cx="5702280" cy="278123"/>
          </a:xfrm>
        </p:grpSpPr>
        <p:sp>
          <p:nvSpPr>
            <p:cNvPr id="18" name="Google Shape;54;p3">
              <a:extLst>
                <a:ext uri="{FF2B5EF4-FFF2-40B4-BE49-F238E27FC236}">
                  <a16:creationId xmlns:a16="http://schemas.microsoft.com/office/drawing/2014/main" xmlns="" id="{F95E8AB1-C86C-5951-0C0A-796069300F7D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Introduction</a:t>
              </a:r>
            </a:p>
          </p:txBody>
        </p:sp>
        <p:sp>
          <p:nvSpPr>
            <p:cNvPr id="19" name="Google Shape;55;p3">
              <a:extLst>
                <a:ext uri="{FF2B5EF4-FFF2-40B4-BE49-F238E27FC236}">
                  <a16:creationId xmlns:a16="http://schemas.microsoft.com/office/drawing/2014/main" xmlns="" id="{89D57B8B-FE06-CC1A-1314-83365C8A16D2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" name="Google Shape;56;p3">
            <a:extLst>
              <a:ext uri="{FF2B5EF4-FFF2-40B4-BE49-F238E27FC236}">
                <a16:creationId xmlns:a16="http://schemas.microsoft.com/office/drawing/2014/main" xmlns="" id="{F008D7E0-5724-D67D-06AA-9C1725D5BFDC}"/>
              </a:ext>
            </a:extLst>
          </p:cNvPr>
          <p:cNvGrpSpPr/>
          <p:nvPr/>
        </p:nvGrpSpPr>
        <p:grpSpPr>
          <a:xfrm>
            <a:off x="2819400" y="6057900"/>
            <a:ext cx="8553420" cy="417186"/>
            <a:chOff x="571500" y="5165783"/>
            <a:chExt cx="5702280" cy="278124"/>
          </a:xfrm>
        </p:grpSpPr>
        <p:sp>
          <p:nvSpPr>
            <p:cNvPr id="21" name="Google Shape;57;p3">
              <a:extLst>
                <a:ext uri="{FF2B5EF4-FFF2-40B4-BE49-F238E27FC236}">
                  <a16:creationId xmlns:a16="http://schemas.microsoft.com/office/drawing/2014/main" xmlns="" id="{91F47DB6-1F13-BCA9-1F4A-C0BE191FBDAC}"/>
                </a:ext>
              </a:extLst>
            </p:cNvPr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b="1" dirty="0">
                  <a:latin typeface="Arial" panose="020B0604020202020204" pitchFamily="34" charset="0"/>
                  <a:cs typeface="Arial" panose="020B0604020202020204" pitchFamily="34" charset="0"/>
                </a:rPr>
                <a:t>Key Tasks</a:t>
              </a:r>
            </a:p>
          </p:txBody>
        </p:sp>
        <p:sp>
          <p:nvSpPr>
            <p:cNvPr id="22" name="Google Shape;58;p3">
              <a:extLst>
                <a:ext uri="{FF2B5EF4-FFF2-40B4-BE49-F238E27FC236}">
                  <a16:creationId xmlns:a16="http://schemas.microsoft.com/office/drawing/2014/main" xmlns="" id="{6A8D02FD-47C3-273C-A1A4-117CD8F6C287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" name="Google Shape;53;p3">
            <a:extLst>
              <a:ext uri="{FF2B5EF4-FFF2-40B4-BE49-F238E27FC236}">
                <a16:creationId xmlns:a16="http://schemas.microsoft.com/office/drawing/2014/main" xmlns="" id="{2FD0EABC-52F2-4414-C7E0-16AF5C8B4532}"/>
              </a:ext>
            </a:extLst>
          </p:cNvPr>
          <p:cNvGrpSpPr/>
          <p:nvPr/>
        </p:nvGrpSpPr>
        <p:grpSpPr>
          <a:xfrm>
            <a:off x="2838827" y="4317848"/>
            <a:ext cx="8553420" cy="417185"/>
            <a:chOff x="571500" y="3764860"/>
            <a:chExt cx="5702280" cy="278123"/>
          </a:xfrm>
        </p:grpSpPr>
        <p:sp>
          <p:nvSpPr>
            <p:cNvPr id="27" name="Google Shape;54;p3">
              <a:extLst>
                <a:ext uri="{FF2B5EF4-FFF2-40B4-BE49-F238E27FC236}">
                  <a16:creationId xmlns:a16="http://schemas.microsoft.com/office/drawing/2014/main" xmlns="" id="{C798BA73-F11F-0207-BB46-3A4648622ECF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Problem Statement</a:t>
              </a:r>
              <a:endParaRPr lang="en-US" sz="36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8" name="Google Shape;55;p3">
              <a:extLst>
                <a:ext uri="{FF2B5EF4-FFF2-40B4-BE49-F238E27FC236}">
                  <a16:creationId xmlns:a16="http://schemas.microsoft.com/office/drawing/2014/main" xmlns="" id="{17C2752D-50A8-62F0-8AA6-11C8C3B9AFF3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2661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>
          <a:extLst>
            <a:ext uri="{FF2B5EF4-FFF2-40B4-BE49-F238E27FC236}">
              <a16:creationId xmlns:a16="http://schemas.microsoft.com/office/drawing/2014/main" xmlns="" id="{FB06A257-1607-CF44-B907-17CC70906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>
            <a:extLst>
              <a:ext uri="{FF2B5EF4-FFF2-40B4-BE49-F238E27FC236}">
                <a16:creationId xmlns:a16="http://schemas.microsoft.com/office/drawing/2014/main" xmlns="" id="{A9B12A40-D5CA-0CCE-FB54-48CFEB049798}"/>
              </a:ext>
            </a:extLst>
          </p:cNvPr>
          <p:cNvSpPr/>
          <p:nvPr/>
        </p:nvSpPr>
        <p:spPr>
          <a:xfrm>
            <a:off x="2209800" y="1104900"/>
            <a:ext cx="105129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Key Tasks Implemented</a:t>
            </a:r>
            <a:endParaRPr lang="en-US" sz="6600" dirty="0">
              <a:solidFill>
                <a:schemeClr val="lt1"/>
              </a:solidFill>
              <a:ea typeface="Calibri"/>
              <a:cs typeface="Calibri"/>
            </a:endParaRPr>
          </a:p>
        </p:txBody>
      </p:sp>
      <p:cxnSp>
        <p:nvCxnSpPr>
          <p:cNvPr id="41" name="Google Shape;41;p2">
            <a:extLst>
              <a:ext uri="{FF2B5EF4-FFF2-40B4-BE49-F238E27FC236}">
                <a16:creationId xmlns:a16="http://schemas.microsoft.com/office/drawing/2014/main" xmlns="" id="{74F60B43-E586-14A5-DD51-456EECDA6888}"/>
              </a:ext>
            </a:extLst>
          </p:cNvPr>
          <p:cNvCxnSpPr>
            <a:cxnSpLocks/>
          </p:cNvCxnSpPr>
          <p:nvPr/>
        </p:nvCxnSpPr>
        <p:spPr>
          <a:xfrm>
            <a:off x="1447800" y="2446705"/>
            <a:ext cx="0" cy="6703295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5" name="Card 145"/>
          <p:cNvSpPr/>
          <p:nvPr/>
        </p:nvSpPr>
        <p:spPr>
          <a:xfrm>
            <a:off x="1866900" y="2500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46" name="Badge 146"/>
          <p:cNvSpPr/>
          <p:nvPr/>
        </p:nvSpPr>
        <p:spPr>
          <a:xfrm>
            <a:off x="2146900" y="2780000"/>
            <a:ext cx="650000" cy="65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193EB0"/>
                </a:solidFill>
                <a:latin typeface="Calibri"/>
              </a:rPr>
              <a:t>1</a:t>
            </a:r>
          </a:p>
        </p:txBody>
      </p:sp>
      <p:sp>
        <p:nvSpPr>
          <p:cNvPr id="147" name="Label 147"/>
          <p:cNvSpPr txBox="1"/>
          <p:nvPr/>
        </p:nvSpPr>
        <p:spPr>
          <a:xfrm>
            <a:off x="3076900" y="2780000"/>
            <a:ext cx="576072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Stations &amp; Chargers Management</a:t>
            </a:r>
          </a:p>
        </p:txBody>
      </p:sp>
      <p:sp>
        <p:nvSpPr>
          <p:cNvPr id="148" name="Text 148"/>
          <p:cNvSpPr txBox="1"/>
          <p:nvPr/>
        </p:nvSpPr>
        <p:spPr>
          <a:xfrm>
            <a:off x="2146900" y="3511296"/>
            <a:ext cx="656710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400" b="0" dirty="0">
                <a:solidFill>
                  <a:srgbClr val="FFFFFF"/>
                </a:solidFill>
                <a:latin typeface="Calibri"/>
              </a:rPr>
              <a:t>Implemented station and charger creation, status tracking (Available, Occupied, Maintenance), search filters, and an admin Undo feature powered by a custom Stack.</a:t>
            </a:r>
          </a:p>
        </p:txBody>
      </p:sp>
      <p:sp>
        <p:nvSpPr>
          <p:cNvPr id="149" name="Card 149"/>
          <p:cNvSpPr/>
          <p:nvPr/>
        </p:nvSpPr>
        <p:spPr>
          <a:xfrm>
            <a:off x="9294000" y="2500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50" name="Badge 150"/>
          <p:cNvSpPr/>
          <p:nvPr/>
        </p:nvSpPr>
        <p:spPr>
          <a:xfrm>
            <a:off x="9574000" y="2780000"/>
            <a:ext cx="650000" cy="65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193EB0"/>
                </a:solidFill>
                <a:latin typeface="Calibri"/>
              </a:rPr>
              <a:t>2</a:t>
            </a:r>
          </a:p>
        </p:txBody>
      </p:sp>
      <p:sp>
        <p:nvSpPr>
          <p:cNvPr id="151" name="Label 151"/>
          <p:cNvSpPr txBox="1"/>
          <p:nvPr/>
        </p:nvSpPr>
        <p:spPr>
          <a:xfrm>
            <a:off x="10504000" y="2780000"/>
            <a:ext cx="576072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Smart Booking &amp; Waiting List</a:t>
            </a:r>
          </a:p>
        </p:txBody>
      </p:sp>
      <p:sp>
        <p:nvSpPr>
          <p:cNvPr id="152" name="Text 152"/>
          <p:cNvSpPr txBox="1"/>
          <p:nvPr/>
        </p:nvSpPr>
        <p:spPr>
          <a:xfrm>
            <a:off x="9574000" y="3511296"/>
            <a:ext cx="656710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400" b="0" dirty="0">
                <a:solidFill>
                  <a:srgbClr val="FFFFFF"/>
                </a:solidFill>
                <a:latin typeface="Calibri"/>
              </a:rPr>
              <a:t>Developed conflict-prevention booking validation, greedy slot assignment, and a first-in, first-out (FIFO) Queue for automated waiting list management and slot promotions.</a:t>
            </a:r>
          </a:p>
        </p:txBody>
      </p:sp>
      <p:sp>
        <p:nvSpPr>
          <p:cNvPr id="153" name="Card 153"/>
          <p:cNvSpPr/>
          <p:nvPr/>
        </p:nvSpPr>
        <p:spPr>
          <a:xfrm>
            <a:off x="1866900" y="5975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54" name="Badge 154"/>
          <p:cNvSpPr/>
          <p:nvPr/>
        </p:nvSpPr>
        <p:spPr>
          <a:xfrm>
            <a:off x="2146900" y="6255000"/>
            <a:ext cx="650000" cy="65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193EB0"/>
                </a:solidFill>
                <a:latin typeface="Calibri"/>
              </a:rPr>
              <a:t>3</a:t>
            </a:r>
          </a:p>
        </p:txBody>
      </p:sp>
      <p:sp>
        <p:nvSpPr>
          <p:cNvPr id="155" name="Label 155"/>
          <p:cNvSpPr txBox="1"/>
          <p:nvPr/>
        </p:nvSpPr>
        <p:spPr>
          <a:xfrm>
            <a:off x="3076900" y="6255000"/>
            <a:ext cx="576072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Session Lifecycle &amp; Battery Monitor</a:t>
            </a:r>
          </a:p>
        </p:txBody>
      </p:sp>
      <p:sp>
        <p:nvSpPr>
          <p:cNvPr id="156" name="Text 156"/>
          <p:cNvSpPr txBox="1"/>
          <p:nvPr/>
        </p:nvSpPr>
        <p:spPr>
          <a:xfrm>
            <a:off x="2146900" y="6986016"/>
            <a:ext cx="656710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400" b="0" dirty="0">
                <a:solidFill>
                  <a:srgbClr val="FFFFFF"/>
                </a:solidFill>
                <a:latin typeface="Calibri"/>
              </a:rPr>
              <a:t>Built charging session tracking to separate planned vs. actual times, recorded simulated energy consumption, sorted history via Merge Sort, and integrated driver battery estimates.</a:t>
            </a:r>
          </a:p>
        </p:txBody>
      </p:sp>
      <p:sp>
        <p:nvSpPr>
          <p:cNvPr id="157" name="Card 157"/>
          <p:cNvSpPr/>
          <p:nvPr/>
        </p:nvSpPr>
        <p:spPr>
          <a:xfrm>
            <a:off x="9294000" y="5975000"/>
            <a:ext cx="71271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58" name="Badge 158"/>
          <p:cNvSpPr/>
          <p:nvPr/>
        </p:nvSpPr>
        <p:spPr>
          <a:xfrm>
            <a:off x="9574000" y="6255000"/>
            <a:ext cx="650000" cy="65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400" b="1" dirty="0">
                <a:solidFill>
                  <a:srgbClr val="193EB0"/>
                </a:solidFill>
                <a:latin typeface="Calibri"/>
              </a:rPr>
              <a:t>4</a:t>
            </a:r>
          </a:p>
        </p:txBody>
      </p:sp>
      <p:sp>
        <p:nvSpPr>
          <p:cNvPr id="159" name="Label 159"/>
          <p:cNvSpPr txBox="1"/>
          <p:nvPr/>
        </p:nvSpPr>
        <p:spPr>
          <a:xfrm>
            <a:off x="10504000" y="6255000"/>
            <a:ext cx="576072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Analytics Dashboard &amp; Security</a:t>
            </a:r>
          </a:p>
        </p:txBody>
      </p:sp>
      <p:sp>
        <p:nvSpPr>
          <p:cNvPr id="160" name="Text 160"/>
          <p:cNvSpPr txBox="1"/>
          <p:nvPr/>
        </p:nvSpPr>
        <p:spPr>
          <a:xfrm>
            <a:off x="9574000" y="6986016"/>
            <a:ext cx="656710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400" b="0" dirty="0">
                <a:solidFill>
                  <a:srgbClr val="FFFFFF"/>
                </a:solidFill>
                <a:latin typeface="Calibri"/>
              </a:rPr>
              <a:t>Created Pandas-based data cleaning reports and utilization metrics, supported by secure authentication, email verification, and role-based access control (RBAC).</a:t>
            </a:r>
          </a:p>
        </p:txBody>
      </p:sp>
    </p:spTree>
    <p:extLst>
      <p:ext uri="{BB962C8B-B14F-4D97-AF65-F5344CB8AC3E}">
        <p14:creationId xmlns:p14="http://schemas.microsoft.com/office/powerpoint/2010/main" val="1598821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1F676F02-7ABE-8ECA-04A5-CB247D767A5B}"/>
              </a:ext>
            </a:extLst>
          </p:cNvPr>
          <p:cNvSpPr txBox="1"/>
          <p:nvPr/>
        </p:nvSpPr>
        <p:spPr>
          <a:xfrm>
            <a:off x="907774" y="1078992"/>
            <a:ext cx="92202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600" b="1" dirty="0">
                <a:solidFill>
                  <a:schemeClr val="lt1"/>
                </a:solidFill>
              </a:rPr>
              <a:t>Data Model</a:t>
            </a:r>
          </a:p>
        </p:txBody>
      </p:sp>
      <p:sp>
        <p:nvSpPr>
          <p:cNvPr id="161" name="Card 161"/>
          <p:cNvSpPr/>
          <p:nvPr/>
        </p:nvSpPr>
        <p:spPr>
          <a:xfrm>
            <a:off x="1066800" y="2331720"/>
            <a:ext cx="8028400" cy="2286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62" name="Badge 162"/>
          <p:cNvSpPr/>
          <p:nvPr/>
        </p:nvSpPr>
        <p:spPr>
          <a:xfrm>
            <a:off x="1266800" y="2478024"/>
            <a:ext cx="585216" cy="585216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200" b="1" dirty="0">
                <a:solidFill>
                  <a:srgbClr val="193EB0"/>
                </a:solidFill>
                <a:latin typeface="Calibri"/>
              </a:rPr>
              <a:t>1</a:t>
            </a:r>
          </a:p>
        </p:txBody>
      </p:sp>
      <p:sp>
        <p:nvSpPr>
          <p:cNvPr id="163" name="Label 163"/>
          <p:cNvSpPr txBox="1"/>
          <p:nvPr/>
        </p:nvSpPr>
        <p:spPr>
          <a:xfrm>
            <a:off x="2066800" y="2478024"/>
            <a:ext cx="68284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Core Classes &amp; Object Models (models/)</a:t>
            </a:r>
          </a:p>
        </p:txBody>
      </p:sp>
      <p:sp>
        <p:nvSpPr>
          <p:cNvPr id="164" name="Text 164"/>
          <p:cNvSpPr txBox="1"/>
          <p:nvPr/>
        </p:nvSpPr>
        <p:spPr>
          <a:xfrm>
            <a:off x="1266800" y="3099815"/>
            <a:ext cx="769924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100" b="0" dirty="0">
                <a:solidFill>
                  <a:srgbClr val="FFFFFF"/>
                </a:solidFill>
                <a:latin typeface="Calibri"/>
              </a:rPr>
              <a:t>The system relies on an Object-Oriented Programming (OOP) design featuring key classes such as Station, Charger (with specialized ACCharger and DCCharger subclasses), Booking, ChargingSession, and User roles.</a:t>
            </a:r>
          </a:p>
        </p:txBody>
      </p:sp>
      <p:sp>
        <p:nvSpPr>
          <p:cNvPr id="165" name="Card 165"/>
          <p:cNvSpPr/>
          <p:nvPr/>
        </p:nvSpPr>
        <p:spPr>
          <a:xfrm>
            <a:off x="9345200" y="2331720"/>
            <a:ext cx="8028400" cy="2286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66" name="Badge 166"/>
          <p:cNvSpPr/>
          <p:nvPr/>
        </p:nvSpPr>
        <p:spPr>
          <a:xfrm>
            <a:off x="9545200" y="2478024"/>
            <a:ext cx="585216" cy="585216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200" b="1" dirty="0">
                <a:solidFill>
                  <a:srgbClr val="193EB0"/>
                </a:solidFill>
                <a:latin typeface="Calibri"/>
              </a:rPr>
              <a:t>2</a:t>
            </a:r>
          </a:p>
        </p:txBody>
      </p:sp>
      <p:sp>
        <p:nvSpPr>
          <p:cNvPr id="167" name="Label 167"/>
          <p:cNvSpPr txBox="1"/>
          <p:nvPr/>
        </p:nvSpPr>
        <p:spPr>
          <a:xfrm>
            <a:off x="10345200" y="2478024"/>
            <a:ext cx="68284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Entity Relationships &amp; Linking</a:t>
            </a:r>
          </a:p>
        </p:txBody>
      </p:sp>
      <p:sp>
        <p:nvSpPr>
          <p:cNvPr id="168" name="Text 168"/>
          <p:cNvSpPr txBox="1"/>
          <p:nvPr/>
        </p:nvSpPr>
        <p:spPr>
          <a:xfrm>
            <a:off x="9545200" y="3099815"/>
            <a:ext cx="769924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100" b="0" dirty="0">
                <a:solidFill>
                  <a:srgbClr val="FFFFFF"/>
                </a:solidFill>
                <a:latin typeface="Calibri"/>
              </a:rPr>
              <a:t>Stations contain collections of chargers, bookings are tied to specific stations and chargers with strict overlap prevention, and confirmed bookings seamlessly transition into active charging sessions to record actual metrics.</a:t>
            </a:r>
          </a:p>
        </p:txBody>
      </p:sp>
      <p:sp>
        <p:nvSpPr>
          <p:cNvPr id="169" name="Card 169"/>
          <p:cNvSpPr/>
          <p:nvPr/>
        </p:nvSpPr>
        <p:spPr>
          <a:xfrm>
            <a:off x="1066800" y="4800600"/>
            <a:ext cx="8028400" cy="2286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70" name="Badge 170"/>
          <p:cNvSpPr/>
          <p:nvPr/>
        </p:nvSpPr>
        <p:spPr>
          <a:xfrm>
            <a:off x="1266800" y="4946904"/>
            <a:ext cx="585216" cy="585216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200" b="1" dirty="0">
                <a:solidFill>
                  <a:srgbClr val="193EB0"/>
                </a:solidFill>
                <a:latin typeface="Calibri"/>
              </a:rPr>
              <a:t>3</a:t>
            </a:r>
          </a:p>
        </p:txBody>
      </p:sp>
      <p:sp>
        <p:nvSpPr>
          <p:cNvPr id="171" name="Label 171"/>
          <p:cNvSpPr txBox="1"/>
          <p:nvPr/>
        </p:nvSpPr>
        <p:spPr>
          <a:xfrm>
            <a:off x="2066800" y="4946904"/>
            <a:ext cx="68284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Persistent Data Storage</a:t>
            </a:r>
          </a:p>
        </p:txBody>
      </p:sp>
      <p:sp>
        <p:nvSpPr>
          <p:cNvPr id="172" name="Text 172"/>
          <p:cNvSpPr txBox="1"/>
          <p:nvPr/>
        </p:nvSpPr>
        <p:spPr>
          <a:xfrm>
            <a:off x="1266800" y="5568696"/>
            <a:ext cx="769924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100" b="0" dirty="0">
                <a:solidFill>
                  <a:srgbClr val="FFFFFF"/>
                </a:solidFill>
                <a:latin typeface="Calibri"/>
              </a:rPr>
              <a:t>All system data—including station catalogs, user profiles, and transaction logs—is securely serialized and stored using JSON and CSV files to ensure data persistence across application restarts.</a:t>
            </a:r>
          </a:p>
        </p:txBody>
      </p:sp>
      <p:sp>
        <p:nvSpPr>
          <p:cNvPr id="173" name="Card 173"/>
          <p:cNvSpPr/>
          <p:nvPr/>
        </p:nvSpPr>
        <p:spPr>
          <a:xfrm>
            <a:off x="9345200" y="4800600"/>
            <a:ext cx="8028400" cy="2286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74" name="Badge 174"/>
          <p:cNvSpPr/>
          <p:nvPr/>
        </p:nvSpPr>
        <p:spPr>
          <a:xfrm>
            <a:off x="9545200" y="4946904"/>
            <a:ext cx="585216" cy="585216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200" b="1" dirty="0">
                <a:solidFill>
                  <a:srgbClr val="193EB0"/>
                </a:solidFill>
                <a:latin typeface="Calibri"/>
              </a:rPr>
              <a:t>4</a:t>
            </a:r>
          </a:p>
        </p:txBody>
      </p:sp>
      <p:sp>
        <p:nvSpPr>
          <p:cNvPr id="175" name="Label 175"/>
          <p:cNvSpPr txBox="1"/>
          <p:nvPr/>
        </p:nvSpPr>
        <p:spPr>
          <a:xfrm>
            <a:off x="10345200" y="4946904"/>
            <a:ext cx="68284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Supporting Data Structures</a:t>
            </a:r>
          </a:p>
        </p:txBody>
      </p:sp>
      <p:sp>
        <p:nvSpPr>
          <p:cNvPr id="176" name="Text 176"/>
          <p:cNvSpPr txBox="1"/>
          <p:nvPr/>
        </p:nvSpPr>
        <p:spPr>
          <a:xfrm>
            <a:off x="9545200" y="5568696"/>
            <a:ext cx="769924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100" b="0" dirty="0">
                <a:solidFill>
                  <a:srgbClr val="FFFFFF"/>
                </a:solidFill>
                <a:latin typeface="Calibri"/>
              </a:rPr>
              <a:t>The models are backed by custom data structures including a Hash Table for instant ID lookups, a Stack for tracking administrative changes and enabling Undo operations, and a FIFO Queue for waiting list management.</a:t>
            </a:r>
          </a:p>
        </p:txBody>
      </p:sp>
      <p:sp>
        <p:nvSpPr>
          <p:cNvPr id="177" name="Card 177"/>
          <p:cNvSpPr/>
          <p:nvPr/>
        </p:nvSpPr>
        <p:spPr>
          <a:xfrm>
            <a:off x="1066800" y="7269480"/>
            <a:ext cx="16306800" cy="224028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78" name="Badge 178"/>
          <p:cNvSpPr/>
          <p:nvPr/>
        </p:nvSpPr>
        <p:spPr>
          <a:xfrm>
            <a:off x="1266800" y="7415783"/>
            <a:ext cx="585216" cy="585216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200" b="1" dirty="0">
                <a:solidFill>
                  <a:srgbClr val="193EB0"/>
                </a:solidFill>
                <a:latin typeface="Calibri"/>
              </a:rPr>
              <a:t>5</a:t>
            </a:r>
          </a:p>
        </p:txBody>
      </p:sp>
      <p:sp>
        <p:nvSpPr>
          <p:cNvPr id="179" name="Label 179"/>
          <p:cNvSpPr txBox="1"/>
          <p:nvPr/>
        </p:nvSpPr>
        <p:spPr>
          <a:xfrm>
            <a:off x="2066800" y="7415783"/>
            <a:ext cx="151068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Data Processing &amp; Pandas Integration</a:t>
            </a:r>
          </a:p>
        </p:txBody>
      </p:sp>
      <p:sp>
        <p:nvSpPr>
          <p:cNvPr id="180" name="Text 180"/>
          <p:cNvSpPr txBox="1"/>
          <p:nvPr/>
        </p:nvSpPr>
        <p:spPr>
          <a:xfrm>
            <a:off x="1266800" y="8055864"/>
            <a:ext cx="12344400" cy="1353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2300" b="0" dirty="0">
                <a:solidFill>
                  <a:srgbClr val="FFFFFF"/>
                </a:solidFill>
                <a:latin typeface="Calibri"/>
              </a:rPr>
              <a:t>Historical records and datasets are structured into Pandas DataFrames to facilitate data cleaning reports, metric aggregations, and deep analytical processing.</a:t>
            </a:r>
          </a:p>
        </p:txBody>
      </p:sp>
    </p:spTree>
    <p:extLst>
      <p:ext uri="{BB962C8B-B14F-4D97-AF65-F5344CB8AC3E}">
        <p14:creationId xmlns:p14="http://schemas.microsoft.com/office/powerpoint/2010/main" val="1247674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itle 193"/>
          <p:cNvSpPr txBox="1"/>
          <p:nvPr/>
        </p:nvSpPr>
        <p:spPr>
          <a:xfrm>
            <a:off x="2209800" y="1104900"/>
            <a:ext cx="14000000" cy="10156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6600" b="0" dirty="0">
                <a:solidFill>
                  <a:srgbClr val="FFFFFF"/>
                </a:solidFill>
                <a:latin typeface="Calibri"/>
              </a:rPr>
              <a:t>Results and Insights</a:t>
            </a:r>
          </a:p>
        </p:txBody>
      </p:sp>
      <p:cxnSp>
        <p:nvCxnSpPr>
          <p:cNvPr id="194" name="Line"/>
          <p:cNvCxnSpPr/>
          <p:nvPr/>
        </p:nvCxnSpPr>
        <p:spPr>
          <a:xfrm>
            <a:off x="1447800" y="2446705"/>
            <a:ext cx="0" cy="6700000"/>
          </a:xfrm>
          <a:prstGeom prst="straightConnector1">
            <a:avLst/>
          </a:prstGeom>
          <a:ln w="38100">
            <a:solidFill>
              <a:schemeClr val="lt1"/>
            </a:solidFill>
          </a:ln>
        </p:spPr>
      </p:cxnSp>
      <p:sp>
        <p:nvSpPr>
          <p:cNvPr id="195" name="Card 195"/>
          <p:cNvSpPr/>
          <p:nvPr/>
        </p:nvSpPr>
        <p:spPr>
          <a:xfrm>
            <a:off x="1866900" y="2500000"/>
            <a:ext cx="14554200" cy="2016666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96" name="Badge 196"/>
          <p:cNvSpPr/>
          <p:nvPr/>
        </p:nvSpPr>
        <p:spPr>
          <a:xfrm>
            <a:off x="2166900" y="2800000"/>
            <a:ext cx="900000" cy="90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600" b="1" dirty="0">
                <a:solidFill>
                  <a:srgbClr val="193EB0"/>
                </a:solidFill>
                <a:latin typeface="Calibri"/>
              </a:rPr>
              <a:t>1</a:t>
            </a:r>
          </a:p>
        </p:txBody>
      </p:sp>
      <p:sp>
        <p:nvSpPr>
          <p:cNvPr id="197" name="Text 197"/>
          <p:cNvSpPr txBox="1"/>
          <p:nvPr/>
        </p:nvSpPr>
        <p:spPr>
          <a:xfrm>
            <a:off x="3366900" y="2752344"/>
            <a:ext cx="12754200" cy="1572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lang="en-US" sz="2600" b="1" dirty="0">
                <a:solidFill>
                  <a:srgbClr val="FFFFFF"/>
                </a:solidFill>
                <a:latin typeface="Calibri"/>
              </a:rPr>
              <a:t>Comprehensive Data Cleaning &amp; Validation</a:t>
            </a:r>
          </a:p>
          <a:p>
            <a:pPr algn="l">
              <a:lnSpc>
                <a:spcPct val="115000"/>
              </a:lnSpc>
            </a:pPr>
            <a:r>
              <a:rPr lang="en-US" sz="2200" b="0" dirty="0">
                <a:solidFill>
                  <a:srgbClr val="FFFFFF"/>
                </a:solidFill>
                <a:latin typeface="Calibri"/>
              </a:rPr>
              <a:t>Successfully ingested and cleaned synthetic datasets containing deliberately injected defects, achieving a 100% detection and correction rate for missing and invalid records.</a:t>
            </a:r>
          </a:p>
        </p:txBody>
      </p:sp>
      <p:sp>
        <p:nvSpPr>
          <p:cNvPr id="198" name="Card 198"/>
          <p:cNvSpPr/>
          <p:nvPr/>
        </p:nvSpPr>
        <p:spPr>
          <a:xfrm>
            <a:off x="1866900" y="4816666"/>
            <a:ext cx="14554200" cy="2016666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199" name="Badge 199"/>
          <p:cNvSpPr/>
          <p:nvPr/>
        </p:nvSpPr>
        <p:spPr>
          <a:xfrm>
            <a:off x="2166900" y="5116666"/>
            <a:ext cx="900000" cy="90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600" b="1" dirty="0">
                <a:solidFill>
                  <a:srgbClr val="193EB0"/>
                </a:solidFill>
                <a:latin typeface="Calibri"/>
              </a:rPr>
              <a:t>2</a:t>
            </a:r>
          </a:p>
        </p:txBody>
      </p:sp>
      <p:sp>
        <p:nvSpPr>
          <p:cNvPr id="200" name="Text 200"/>
          <p:cNvSpPr txBox="1"/>
          <p:nvPr/>
        </p:nvSpPr>
        <p:spPr>
          <a:xfrm>
            <a:off x="3366900" y="5074920"/>
            <a:ext cx="12754200" cy="1572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lang="en-US" sz="2600" b="1" dirty="0">
                <a:solidFill>
                  <a:srgbClr val="FFFFFF"/>
                </a:solidFill>
                <a:latin typeface="Calibri"/>
              </a:rPr>
              <a:t>Key Performance Metrics &amp; Analytics</a:t>
            </a:r>
          </a:p>
          <a:p>
            <a:pPr algn="l">
              <a:lnSpc>
                <a:spcPct val="115000"/>
              </a:lnSpc>
            </a:pPr>
            <a:r>
              <a:rPr lang="en-US" sz="2200" b="0" dirty="0">
                <a:solidFill>
                  <a:srgbClr val="FFFFFF"/>
                </a:solidFill>
                <a:latin typeface="Calibri"/>
              </a:rPr>
              <a:t>Generated actionable operational insights and KPI dashboards using Pandas, tracking peak demand hours, charger utilization rates, cancellation frequencies, and average waiting times across stations.</a:t>
            </a:r>
          </a:p>
        </p:txBody>
      </p:sp>
      <p:sp>
        <p:nvSpPr>
          <p:cNvPr id="201" name="Card 201"/>
          <p:cNvSpPr/>
          <p:nvPr/>
        </p:nvSpPr>
        <p:spPr>
          <a:xfrm>
            <a:off x="1866900" y="7133332"/>
            <a:ext cx="14554200" cy="2016666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202" name="Badge 202"/>
          <p:cNvSpPr/>
          <p:nvPr/>
        </p:nvSpPr>
        <p:spPr>
          <a:xfrm>
            <a:off x="2166900" y="7433332"/>
            <a:ext cx="900000" cy="90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600" b="1" dirty="0">
                <a:solidFill>
                  <a:srgbClr val="193EB0"/>
                </a:solidFill>
                <a:latin typeface="Calibri"/>
              </a:rPr>
              <a:t>3</a:t>
            </a:r>
          </a:p>
        </p:txBody>
      </p:sp>
      <p:sp>
        <p:nvSpPr>
          <p:cNvPr id="203" name="Text 203"/>
          <p:cNvSpPr txBox="1"/>
          <p:nvPr/>
        </p:nvSpPr>
        <p:spPr>
          <a:xfrm>
            <a:off x="3366900" y="7388352"/>
            <a:ext cx="12754200" cy="1572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lang="en-US" sz="2600" b="1" dirty="0">
                <a:solidFill>
                  <a:srgbClr val="FFFFFF"/>
                </a:solidFill>
                <a:latin typeface="Calibri"/>
              </a:rPr>
              <a:t>Algorithmic Efficiency &amp; Reliability</a:t>
            </a:r>
          </a:p>
          <a:p>
            <a:pPr algn="l">
              <a:lnSpc>
                <a:spcPct val="115000"/>
              </a:lnSpc>
            </a:pPr>
            <a:r>
              <a:rPr lang="en-US" sz="2200" b="0" dirty="0">
                <a:solidFill>
                  <a:srgbClr val="FFFFFF"/>
                </a:solidFill>
                <a:latin typeface="Calibri"/>
              </a:rPr>
              <a:t>Validated the high performance of custom algorithms and data structures through 325 automated tests, demonstrating optimal time complexities for searching, sorting, and greedy slot scheduling.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itle 204"/>
          <p:cNvSpPr txBox="1"/>
          <p:nvPr/>
        </p:nvSpPr>
        <p:spPr>
          <a:xfrm>
            <a:off x="2209800" y="1104900"/>
            <a:ext cx="14000000" cy="10156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6600" b="0" dirty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cxnSp>
        <p:nvCxnSpPr>
          <p:cNvPr id="205" name="Line"/>
          <p:cNvCxnSpPr/>
          <p:nvPr/>
        </p:nvCxnSpPr>
        <p:spPr>
          <a:xfrm>
            <a:off x="1447800" y="2446705"/>
            <a:ext cx="0" cy="6700000"/>
          </a:xfrm>
          <a:prstGeom prst="straightConnector1">
            <a:avLst/>
          </a:prstGeom>
          <a:ln w="38100">
            <a:solidFill>
              <a:schemeClr val="lt1"/>
            </a:solidFill>
          </a:ln>
        </p:spPr>
      </p:cxnSp>
      <p:sp>
        <p:nvSpPr>
          <p:cNvPr id="206" name="Card 206"/>
          <p:cNvSpPr/>
          <p:nvPr/>
        </p:nvSpPr>
        <p:spPr>
          <a:xfrm>
            <a:off x="1866900" y="2500000"/>
            <a:ext cx="145542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207" name="Badge 207"/>
          <p:cNvSpPr/>
          <p:nvPr/>
        </p:nvSpPr>
        <p:spPr>
          <a:xfrm>
            <a:off x="2166900" y="2880360"/>
            <a:ext cx="900000" cy="90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93EB0"/>
                </a:solidFill>
                <a:latin typeface="Calibri"/>
              </a:rPr>
              <a:t>1</a:t>
            </a:r>
          </a:p>
        </p:txBody>
      </p:sp>
      <p:sp>
        <p:nvSpPr>
          <p:cNvPr id="208" name="Text 208"/>
          <p:cNvSpPr txBox="1"/>
          <p:nvPr/>
        </p:nvSpPr>
        <p:spPr>
          <a:xfrm>
            <a:off x="3366900" y="2935224"/>
            <a:ext cx="12754200" cy="2423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lang="en-US" sz="3000" b="1" dirty="0">
                <a:solidFill>
                  <a:srgbClr val="FFFFFF"/>
                </a:solidFill>
                <a:latin typeface="Calibri"/>
              </a:rPr>
              <a:t>Successful Project Delivery</a:t>
            </a:r>
          </a:p>
          <a:p>
            <a:pPr algn="l">
              <a:lnSpc>
                <a:spcPct val="120000"/>
              </a:lnSpc>
            </a:pPr>
            <a:r>
              <a:rPr lang="en-US" sz="2500" b="0" dirty="0">
                <a:solidFill>
                  <a:srgbClr val="FFFFFF"/>
                </a:solidFill>
                <a:latin typeface="Calibri"/>
              </a:rPr>
              <a:t>ChargeSpot successfully delivers a robust, full-stack EV charging management platform featuring modular architecture, secure user authentication, and multi-role dashboards.</a:t>
            </a:r>
          </a:p>
        </p:txBody>
      </p:sp>
      <p:sp>
        <p:nvSpPr>
          <p:cNvPr id="209" name="Card 209"/>
          <p:cNvSpPr/>
          <p:nvPr/>
        </p:nvSpPr>
        <p:spPr>
          <a:xfrm>
            <a:off x="1866900" y="5975000"/>
            <a:ext cx="14554200" cy="3175000"/>
          </a:xfrm>
          <a:prstGeom prst="roundRect">
            <a:avLst>
              <a:gd name="adj" fmla="val 7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210" name="Badge 210"/>
          <p:cNvSpPr/>
          <p:nvPr/>
        </p:nvSpPr>
        <p:spPr>
          <a:xfrm>
            <a:off x="2166900" y="6355080"/>
            <a:ext cx="900000" cy="900000"/>
          </a:xfrm>
          <a:prstGeom prst="ellipse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93EB0"/>
                </a:solidFill>
                <a:latin typeface="Calibri"/>
              </a:rPr>
              <a:t>2</a:t>
            </a:r>
          </a:p>
        </p:txBody>
      </p:sp>
      <p:sp>
        <p:nvSpPr>
          <p:cNvPr id="211" name="Text 211"/>
          <p:cNvSpPr txBox="1"/>
          <p:nvPr/>
        </p:nvSpPr>
        <p:spPr>
          <a:xfrm>
            <a:off x="3366900" y="6409944"/>
            <a:ext cx="12754200" cy="2423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lang="en-US" sz="3000" b="1" dirty="0">
                <a:solidFill>
                  <a:srgbClr val="FFFFFF"/>
                </a:solidFill>
                <a:latin typeface="Calibri"/>
              </a:rPr>
              <a:t>Core Algorithmic &amp; Analytical Impact</a:t>
            </a:r>
          </a:p>
          <a:p>
            <a:pPr algn="l">
              <a:lnSpc>
                <a:spcPct val="120000"/>
              </a:lnSpc>
            </a:pPr>
            <a:r>
              <a:rPr lang="en-US" sz="2500" b="0" dirty="0">
                <a:solidFill>
                  <a:srgbClr val="FFFFFF"/>
                </a:solidFill>
                <a:latin typeface="Calibri"/>
              </a:rPr>
              <a:t>The system integrates custom data structures, manual algorithms, and Pandas-driven analytics, validated through comprehensive testing to provide an efficient and scalable solution.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itle 212"/>
          <p:cNvSpPr txBox="1"/>
          <p:nvPr/>
        </p:nvSpPr>
        <p:spPr>
          <a:xfrm>
            <a:off x="1447800" y="3300000"/>
            <a:ext cx="9000000" cy="2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0" b="1" dirty="0">
                <a:solidFill>
                  <a:srgbClr val="FFFFFF"/>
                </a:solidFill>
                <a:latin typeface="Calibri"/>
              </a:rPr>
              <a:t>Q&amp;A</a:t>
            </a:r>
          </a:p>
        </p:txBody>
      </p:sp>
      <p:sp>
        <p:nvSpPr>
          <p:cNvPr id="213" name="Subtitle 213"/>
          <p:cNvSpPr txBox="1"/>
          <p:nvPr/>
        </p:nvSpPr>
        <p:spPr>
          <a:xfrm>
            <a:off x="1447800" y="5800000"/>
            <a:ext cx="105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4000" b="0" dirty="0">
                <a:solidFill>
                  <a:srgbClr val="FFFFFF"/>
                </a:solidFill>
                <a:latin typeface="Calibri"/>
              </a:rPr>
              <a:t>Thank you for listening — questions are welcome</a:t>
            </a:r>
          </a:p>
        </p:txBody>
      </p:sp>
      <p:sp>
        <p:nvSpPr>
          <p:cNvPr id="214" name="Circle 214"/>
          <p:cNvSpPr/>
          <p:nvPr/>
        </p:nvSpPr>
        <p:spPr>
          <a:xfrm>
            <a:off x="12200000" y="2900000"/>
            <a:ext cx="4600000" cy="4600000"/>
          </a:xfrm>
          <a:prstGeom prst="ellipse">
            <a:avLst/>
          </a:prstGeom>
          <a:solidFill>
            <a:srgbClr val="FFFFFF">
              <a:alpha val="12000"/>
            </a:srgbClr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0000" b="1" dirty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215" name="Circle 215"/>
          <p:cNvSpPr/>
          <p:nvPr/>
        </p:nvSpPr>
        <p:spPr>
          <a:xfrm>
            <a:off x="14900000" y="7100000"/>
            <a:ext cx="2200000" cy="2200000"/>
          </a:xfrm>
          <a:prstGeom prst="ellipse">
            <a:avLst/>
          </a:prstGeom>
          <a:solidFill>
            <a:srgbClr val="FFFFFF">
              <a:alpha val="18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1548</TotalTime>
  <Words>944</Words>
  <Application>Microsoft Office PowerPoint</Application>
  <PresentationFormat>Custom</PresentationFormat>
  <Paragraphs>167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Aptos</vt:lpstr>
      <vt:lpstr>Calibri</vt:lpstr>
      <vt:lpstr>Myanmar Text</vt:lpstr>
      <vt:lpstr>Malgun Gothic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 Our Team</dc:title>
  <dc:creator>farah walid</dc:creator>
  <cp:lastModifiedBy>ismail - [2010]</cp:lastModifiedBy>
  <cp:revision>299</cp:revision>
  <dcterms:created xsi:type="dcterms:W3CDTF">2006-08-16T00:00:00Z</dcterms:created>
  <dcterms:modified xsi:type="dcterms:W3CDTF">2026-10-16T13:44:28Z</dcterms:modified>
  <dc:identifier>DAGQ85K8Zw8</dc:identifier>
</cp:coreProperties>
</file>