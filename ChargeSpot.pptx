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62" r:id="rId3"/>
    <p:sldId id="277" r:id="rId4"/>
    <p:sldId id="284" r:id="rId5"/>
    <p:sldId id="275" r:id="rId6"/>
    <p:sldId id="283" r:id="rId7"/>
    <p:sldId id="321" r:id="rId8"/>
    <p:sldId id="287" r:id="rId9"/>
    <p:sldId id="322" r:id="rId10"/>
    <p:sldId id="285" r:id="rId11"/>
    <p:sldId id="323" r:id="rId12"/>
    <p:sldId id="311" r:id="rId13"/>
    <p:sldId id="318" r:id="rId14"/>
    <p:sldId id="319" r:id="rId15"/>
    <p:sldId id="320" r:id="rId16"/>
    <p:sldId id="279" r:id="rId17"/>
  </p:sldIdLst>
  <p:sldSz cx="18288000" cy="10287000"/>
  <p:notesSz cx="6858000" cy="9144000"/>
  <p:embeddedFontLst>
    <p:embeddedFont>
      <p:font typeface="Malgun Gothic" panose="020B0503020000020004" pitchFamily="34" charset="-127"/>
      <p:regular r:id="rId19"/>
      <p:bold r:id="rId20"/>
    </p:embeddedFont>
    <p:embeddedFont>
      <p:font typeface="Myanmar Text" panose="020B0502040204020203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50EC2B-4D7E-4477-98E2-6AE93171336A}" v="686" dt="2026-08-23T19:44:03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0CFBD-2DEB-440F-9191-7BCF2F1F3C7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245B8-2127-40CB-94F2-866A59635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1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0" name="Google Shape;3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8060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7000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3568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C1958E53-014C-2996-C465-D950EAB2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17ABE666-9A8D-E695-BDE3-98E05964F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C94E4694-C835-03C4-324A-BE6ABB83CD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DCFD3807-9417-AD5C-D76A-01E93F9B67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7844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8279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54412D7C-BD6D-BE58-A850-F49D2537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66F5A32F-E385-4C6A-3FA1-09D198DF3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ED107D73-4DDB-0720-EEE5-DBFE2B83A7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23CB94C3-5A06-3FD1-B395-5339516876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2832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475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D324E376-B20F-2C58-26F2-49B7DA526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D9D74454-6A82-2534-C022-B259B6D9B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679A3E2F-6EB6-AB6F-2D61-85DCF89CE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2B513D24-C216-295B-4024-13034C7EBE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1647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7b6163dee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7b6163dee3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27b6163dee3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m Cover">
  <p:cSld name="Interim Cover">
    <p:bg>
      <p:bgPr>
        <a:solidFill>
          <a:srgbClr val="193EB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43132" y="370513"/>
            <a:ext cx="2952967" cy="78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4"/>
          <p:cNvSpPr/>
          <p:nvPr/>
        </p:nvSpPr>
        <p:spPr>
          <a:xfrm>
            <a:off x="915806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444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/>
          <p:nvPr/>
        </p:nvSpPr>
        <p:spPr>
          <a:xfrm>
            <a:off x="1" y="0"/>
            <a:ext cx="18288000" cy="3105807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6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/>
          </a:p>
        </p:txBody>
      </p:sp>
    </p:spTree>
    <p:extLst>
      <p:ext uri="{BB962C8B-B14F-4D97-AF65-F5344CB8AC3E}">
        <p14:creationId xmlns:p14="http://schemas.microsoft.com/office/powerpoint/2010/main" val="70451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193EB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5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/>
          </a:p>
        </p:txBody>
      </p:sp>
    </p:spTree>
    <p:extLst>
      <p:ext uri="{BB962C8B-B14F-4D97-AF65-F5344CB8AC3E}">
        <p14:creationId xmlns:p14="http://schemas.microsoft.com/office/powerpoint/2010/main" val="360430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 Cover">
  <p:cSld name="Back Cover">
    <p:bg>
      <p:bgPr>
        <a:solidFill>
          <a:srgbClr val="193EB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8"/>
          <p:cNvSpPr/>
          <p:nvPr/>
        </p:nvSpPr>
        <p:spPr>
          <a:xfrm>
            <a:off x="1095078" y="8446562"/>
            <a:ext cx="17192922" cy="110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ⓒ2020 SAMSUNG. All rights reserved.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 sz="2700"/>
          </a:p>
        </p:txBody>
      </p:sp>
      <p:sp>
        <p:nvSpPr>
          <p:cNvPr id="24" name="Google Shape;24;p48"/>
          <p:cNvSpPr/>
          <p:nvPr/>
        </p:nvSpPr>
        <p:spPr>
          <a:xfrm>
            <a:off x="14896875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41182" y="3943319"/>
            <a:ext cx="6205635" cy="16532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710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521462" y="3030992"/>
            <a:ext cx="14699737" cy="1324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800" b="1" i="0" dirty="0" err="1">
                <a:solidFill>
                  <a:srgbClr val="FFFFFF"/>
                </a:solidFill>
                <a:effectLst/>
                <a:latin typeface="Myanmar Text" panose="020B0502040204020203" pitchFamily="34" charset="0"/>
                <a:cs typeface="Myanmar Text" panose="020B0502040204020203" pitchFamily="34" charset="0"/>
              </a:rPr>
              <a:t>ChargeSpot</a:t>
            </a:r>
            <a:r>
              <a:rPr lang="en-US" sz="4800" b="1" i="0" dirty="0">
                <a:solidFill>
                  <a:srgbClr val="FFFFFF"/>
                </a:solidFill>
                <a:effectLst/>
                <a:latin typeface="Myanmar Text" panose="020B0502040204020203" pitchFamily="34" charset="0"/>
                <a:cs typeface="Myanmar Text" panose="020B0502040204020203" pitchFamily="34" charset="0"/>
              </a:rPr>
              <a:t> : EV Charging Management System</a:t>
            </a:r>
          </a:p>
          <a:p>
            <a:pPr algn="l"/>
            <a:endParaRPr lang="en-US" sz="4800" b="1" i="0" dirty="0">
              <a:solidFill>
                <a:srgbClr val="FFFFFF"/>
              </a:solidFill>
              <a:effectLst/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C1D468-0F1E-42A1-32BF-F584AA2EBCB0}"/>
              </a:ext>
            </a:extLst>
          </p:cNvPr>
          <p:cNvSpPr txBox="1"/>
          <p:nvPr/>
        </p:nvSpPr>
        <p:spPr>
          <a:xfrm>
            <a:off x="2521542" y="4363152"/>
            <a:ext cx="3879258" cy="30162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00B3E3"/>
                </a:solidFill>
                <a:latin typeface="Calibri"/>
                <a:ea typeface="Calibri"/>
                <a:cs typeface="Calibri"/>
              </a:rPr>
              <a:t>SIC 8</a:t>
            </a:r>
            <a:endParaRPr lang="en-US" sz="3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3200" dirty="0">
              <a:solidFill>
                <a:srgbClr val="00B3E3"/>
              </a:solidFill>
              <a:latin typeface="Arial"/>
              <a:ea typeface="Calibri"/>
              <a:cs typeface="Arial"/>
            </a:endParaRPr>
          </a:p>
          <a:p>
            <a:pPr marL="457200" indent="-457200" algn="l">
              <a:buFont typeface="Arial"/>
              <a:buChar char="•"/>
            </a:pPr>
            <a:r>
              <a:rPr lang="en-US" sz="3200" dirty="0">
                <a:solidFill>
                  <a:srgbClr val="00B3E3"/>
                </a:solidFill>
                <a:latin typeface="Arial"/>
                <a:ea typeface="Calibri"/>
                <a:cs typeface="Arial"/>
              </a:rPr>
              <a:t>CP </a:t>
            </a:r>
            <a:endParaRPr lang="en-US" sz="32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571500" indent="-571500">
              <a:buFont typeface="Arial"/>
              <a:buChar char="•"/>
            </a:pPr>
            <a:endParaRPr lang="en-US" sz="3600" dirty="0">
              <a:solidFill>
                <a:srgbClr val="00B3E3"/>
              </a:solidFill>
              <a:ea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00B3E3"/>
                </a:solidFill>
                <a:ea typeface="Calibri"/>
                <a:cs typeface="Calibri"/>
              </a:rPr>
              <a:t>Team </a:t>
            </a:r>
            <a:r>
              <a:rPr lang="ar-EG" sz="3600" dirty="0">
                <a:solidFill>
                  <a:srgbClr val="00B3E3"/>
                </a:solidFill>
                <a:ea typeface="Calibri"/>
                <a:cs typeface="Calibri"/>
              </a:rPr>
              <a:t>4</a:t>
            </a:r>
            <a:endParaRPr lang="en-US" sz="36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/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19400" y="4864902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19400" y="4281839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59;p3">
            <a:extLst>
              <a:ext uri="{FF2B5EF4-FFF2-40B4-BE49-F238E27FC236}">
                <a16:creationId xmlns:a16="http://schemas.microsoft.com/office/drawing/2014/main" id="{7F7E447A-C5E1-7420-8FBB-3CF4F1A9AD02}"/>
              </a:ext>
            </a:extLst>
          </p:cNvPr>
          <p:cNvGrpSpPr/>
          <p:nvPr/>
        </p:nvGrpSpPr>
        <p:grpSpPr>
          <a:xfrm>
            <a:off x="2819400" y="5418578"/>
            <a:ext cx="8553420" cy="417167"/>
            <a:chOff x="571500" y="5165783"/>
            <a:chExt cx="5702280" cy="278111"/>
          </a:xfrm>
        </p:grpSpPr>
        <p:sp>
          <p:nvSpPr>
            <p:cNvPr id="24" name="Google Shape;60;p3">
              <a:extLst>
                <a:ext uri="{FF2B5EF4-FFF2-40B4-BE49-F238E27FC236}">
                  <a16:creationId xmlns:a16="http://schemas.microsoft.com/office/drawing/2014/main" id="{C343142B-432C-21AC-C3ED-C746402D1775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Google Shape;61;p3">
              <a:extLst>
                <a:ext uri="{FF2B5EF4-FFF2-40B4-BE49-F238E27FC236}">
                  <a16:creationId xmlns:a16="http://schemas.microsoft.com/office/drawing/2014/main" id="{A929D6BB-1C0E-E7E6-0485-DFC4F9631D1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59;p3">
            <a:extLst>
              <a:ext uri="{FF2B5EF4-FFF2-40B4-BE49-F238E27FC236}">
                <a16:creationId xmlns:a16="http://schemas.microsoft.com/office/drawing/2014/main" id="{6B0CC098-F2B6-F4AB-ACA1-ADA8CE90848D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30" name="Google Shape;60;p3">
              <a:extLst>
                <a:ext uri="{FF2B5EF4-FFF2-40B4-BE49-F238E27FC236}">
                  <a16:creationId xmlns:a16="http://schemas.microsoft.com/office/drawing/2014/main" id="{5827A87A-FDAA-039B-8499-A0134E71CC44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31" name="Google Shape;61;p3">
              <a:extLst>
                <a:ext uri="{FF2B5EF4-FFF2-40B4-BE49-F238E27FC236}">
                  <a16:creationId xmlns:a16="http://schemas.microsoft.com/office/drawing/2014/main" id="{8C925EB8-49B2-7445-4CD7-4610E9FC10C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59;p3">
            <a:extLst>
              <a:ext uri="{FF2B5EF4-FFF2-40B4-BE49-F238E27FC236}">
                <a16:creationId xmlns:a16="http://schemas.microsoft.com/office/drawing/2014/main" id="{D876FA5B-C218-9A6F-8397-0DE31982F5F2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33" name="Google Shape;60;p3">
              <a:extLst>
                <a:ext uri="{FF2B5EF4-FFF2-40B4-BE49-F238E27FC236}">
                  <a16:creationId xmlns:a16="http://schemas.microsoft.com/office/drawing/2014/main" id="{5C09F73E-CCE3-EB94-1BF8-3F91767F5498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Google Shape;61;p3">
              <a:extLst>
                <a:ext uri="{FF2B5EF4-FFF2-40B4-BE49-F238E27FC236}">
                  <a16:creationId xmlns:a16="http://schemas.microsoft.com/office/drawing/2014/main" id="{62729B27-633B-0381-594B-D268770FDC45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59;p3">
            <a:extLst>
              <a:ext uri="{FF2B5EF4-FFF2-40B4-BE49-F238E27FC236}">
                <a16:creationId xmlns:a16="http://schemas.microsoft.com/office/drawing/2014/main" id="{5BA8E6CA-3E50-9C10-4FDF-72B2CFB555C3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36" name="Google Shape;60;p3">
              <a:extLst>
                <a:ext uri="{FF2B5EF4-FFF2-40B4-BE49-F238E27FC236}">
                  <a16:creationId xmlns:a16="http://schemas.microsoft.com/office/drawing/2014/main" id="{983DC240-2142-1D58-B1DF-73232CB9745F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Google Shape;61;p3">
              <a:extLst>
                <a:ext uri="{FF2B5EF4-FFF2-40B4-BE49-F238E27FC236}">
                  <a16:creationId xmlns:a16="http://schemas.microsoft.com/office/drawing/2014/main" id="{3A4624BC-583E-7CE8-CECD-D0FFBABAA10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56;p3">
            <a:extLst>
              <a:ext uri="{FF2B5EF4-FFF2-40B4-BE49-F238E27FC236}">
                <a16:creationId xmlns:a16="http://schemas.microsoft.com/office/drawing/2014/main" id="{A7BE938D-83D0-31CC-F469-A384BD411D9E}"/>
              </a:ext>
            </a:extLst>
          </p:cNvPr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39" name="Google Shape;57;p3">
              <a:extLst>
                <a:ext uri="{FF2B5EF4-FFF2-40B4-BE49-F238E27FC236}">
                  <a16:creationId xmlns:a16="http://schemas.microsoft.com/office/drawing/2014/main" id="{9B7D4C13-7475-82A3-078D-64A6845669B6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40" name="Google Shape;58;p3">
              <a:extLst>
                <a:ext uri="{FF2B5EF4-FFF2-40B4-BE49-F238E27FC236}">
                  <a16:creationId xmlns:a16="http://schemas.microsoft.com/office/drawing/2014/main" id="{5894D6D0-8127-F992-F67B-EE9DD597918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3057398" y="1217033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Meet </a:t>
            </a:r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The Team</a:t>
            </a:r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41" name="Google Shape;41;p2"/>
          <p:cNvCxnSpPr>
            <a:cxnSpLocks/>
          </p:cNvCxnSpPr>
          <p:nvPr/>
        </p:nvCxnSpPr>
        <p:spPr>
          <a:xfrm>
            <a:off x="2655131" y="3146428"/>
            <a:ext cx="0" cy="3597272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Content">
            <a:extLst>
              <a:ext uri="{FF2B5EF4-FFF2-40B4-BE49-F238E27FC236}">
                <a16:creationId xmlns:a16="http://schemas.microsoft.com/office/drawing/2014/main" id="{CFCDD323-2FBC-FA4D-2B33-9B9AFA572339}"/>
              </a:ext>
            </a:extLst>
          </p:cNvPr>
          <p:cNvSpPr/>
          <p:nvPr/>
        </p:nvSpPr>
        <p:spPr>
          <a:xfrm>
            <a:off x="3031998" y="2395832"/>
            <a:ext cx="15887700" cy="44433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•"/>
            </a:pPr>
            <a:endParaRPr lang="en-US" sz="320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457200" indent="-457200">
              <a:spcAft>
                <a:spcPts val="1600"/>
              </a:spcAft>
              <a:buFont typeface="Arial"/>
              <a:buChar char="•"/>
            </a:pPr>
            <a:r>
              <a:rPr lang="en-US" sz="40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Amr Atef</a:t>
            </a:r>
          </a:p>
          <a:p>
            <a:pPr marL="457200" indent="-457200">
              <a:spcAft>
                <a:spcPts val="1600"/>
              </a:spcAft>
              <a:buFont typeface="Arial"/>
              <a:buChar char="•"/>
            </a:pPr>
            <a:r>
              <a:rPr lang="en-US" sz="40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Ahmed Mahmoud</a:t>
            </a:r>
          </a:p>
          <a:p>
            <a:pPr marL="457200" indent="-457200">
              <a:spcAft>
                <a:spcPts val="1600"/>
              </a:spcAft>
              <a:buFont typeface="Arial"/>
              <a:buChar char="•"/>
            </a:pPr>
            <a:r>
              <a:rPr lang="en-US" sz="40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Bishoy </a:t>
            </a:r>
            <a:r>
              <a:rPr lang="en-US" sz="400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Emeil</a:t>
            </a:r>
            <a:endParaRPr lang="en-US" sz="400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457200" indent="-457200">
              <a:spcAft>
                <a:spcPts val="1600"/>
              </a:spcAft>
              <a:buFont typeface="Arial"/>
              <a:buChar char="•"/>
            </a:pPr>
            <a:r>
              <a:rPr lang="en-US" sz="40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Malak Al-</a:t>
            </a:r>
            <a:r>
              <a:rPr lang="en-US" sz="4000" dirty="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Ghandour</a:t>
            </a:r>
            <a:endParaRPr lang="en-US" sz="400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8827" y="4838849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38827" y="4263985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b="1" dirty="0"/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59;p3">
            <a:extLst>
              <a:ext uri="{FF2B5EF4-FFF2-40B4-BE49-F238E27FC236}">
                <a16:creationId xmlns:a16="http://schemas.microsoft.com/office/drawing/2014/main" id="{85E349D9-A193-F0B4-178E-3B608030D164}"/>
              </a:ext>
            </a:extLst>
          </p:cNvPr>
          <p:cNvGrpSpPr/>
          <p:nvPr/>
        </p:nvGrpSpPr>
        <p:grpSpPr>
          <a:xfrm>
            <a:off x="2838827" y="6060863"/>
            <a:ext cx="8553420" cy="417167"/>
            <a:chOff x="571500" y="5165783"/>
            <a:chExt cx="5702280" cy="278111"/>
          </a:xfrm>
        </p:grpSpPr>
        <p:sp>
          <p:nvSpPr>
            <p:cNvPr id="42" name="Google Shape;60;p3">
              <a:extLst>
                <a:ext uri="{FF2B5EF4-FFF2-40B4-BE49-F238E27FC236}">
                  <a16:creationId xmlns:a16="http://schemas.microsoft.com/office/drawing/2014/main" id="{EFFC4856-B028-838B-CC8D-3EF685ED7D61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3" name="Google Shape;61;p3">
              <a:extLst>
                <a:ext uri="{FF2B5EF4-FFF2-40B4-BE49-F238E27FC236}">
                  <a16:creationId xmlns:a16="http://schemas.microsoft.com/office/drawing/2014/main" id="{89CD6F7D-5AF4-EFA3-BD31-0DD92052428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59;p3">
            <a:extLst>
              <a:ext uri="{FF2B5EF4-FFF2-40B4-BE49-F238E27FC236}">
                <a16:creationId xmlns:a16="http://schemas.microsoft.com/office/drawing/2014/main" id="{EA2AD48F-33F1-D423-8B43-A2B9E6186B50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45" name="Google Shape;60;p3">
              <a:extLst>
                <a:ext uri="{FF2B5EF4-FFF2-40B4-BE49-F238E27FC236}">
                  <a16:creationId xmlns:a16="http://schemas.microsoft.com/office/drawing/2014/main" id="{02D5BB92-6829-58A4-14C4-CC2E1C38E7BA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46" name="Google Shape;61;p3">
              <a:extLst>
                <a:ext uri="{FF2B5EF4-FFF2-40B4-BE49-F238E27FC236}">
                  <a16:creationId xmlns:a16="http://schemas.microsoft.com/office/drawing/2014/main" id="{4DBAE548-F2FA-0118-D8D8-7A4374A59639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59;p3">
            <a:extLst>
              <a:ext uri="{FF2B5EF4-FFF2-40B4-BE49-F238E27FC236}">
                <a16:creationId xmlns:a16="http://schemas.microsoft.com/office/drawing/2014/main" id="{27BE83FF-282E-B11E-237A-CEC6525324D2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49" name="Google Shape;60;p3">
              <a:extLst>
                <a:ext uri="{FF2B5EF4-FFF2-40B4-BE49-F238E27FC236}">
                  <a16:creationId xmlns:a16="http://schemas.microsoft.com/office/drawing/2014/main" id="{9308C891-F45F-3040-CFCF-C3E87DE5FE00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0" name="Google Shape;61;p3">
              <a:extLst>
                <a:ext uri="{FF2B5EF4-FFF2-40B4-BE49-F238E27FC236}">
                  <a16:creationId xmlns:a16="http://schemas.microsoft.com/office/drawing/2014/main" id="{A41658F1-DA9B-77CA-EFB1-58FA37D2F87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9;p3">
            <a:extLst>
              <a:ext uri="{FF2B5EF4-FFF2-40B4-BE49-F238E27FC236}">
                <a16:creationId xmlns:a16="http://schemas.microsoft.com/office/drawing/2014/main" id="{F39646BC-47E1-D10A-F074-2B3D26B42E27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52" name="Google Shape;60;p3">
              <a:extLst>
                <a:ext uri="{FF2B5EF4-FFF2-40B4-BE49-F238E27FC236}">
                  <a16:creationId xmlns:a16="http://schemas.microsoft.com/office/drawing/2014/main" id="{1559F5DA-B18D-651C-52F0-64E602F05161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3" name="Google Shape;61;p3">
              <a:extLst>
                <a:ext uri="{FF2B5EF4-FFF2-40B4-BE49-F238E27FC236}">
                  <a16:creationId xmlns:a16="http://schemas.microsoft.com/office/drawing/2014/main" id="{3CA93381-05C7-6869-2C6A-D9F9CD9475D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6;p3">
            <a:extLst>
              <a:ext uri="{FF2B5EF4-FFF2-40B4-BE49-F238E27FC236}">
                <a16:creationId xmlns:a16="http://schemas.microsoft.com/office/drawing/2014/main" id="{B16BFB6F-F05C-E902-F780-54F76DE8E1B1}"/>
              </a:ext>
            </a:extLst>
          </p:cNvPr>
          <p:cNvGrpSpPr/>
          <p:nvPr/>
        </p:nvGrpSpPr>
        <p:grpSpPr>
          <a:xfrm>
            <a:off x="2838827" y="5404125"/>
            <a:ext cx="8553420" cy="417186"/>
            <a:chOff x="571500" y="5165783"/>
            <a:chExt cx="5702280" cy="278124"/>
          </a:xfrm>
        </p:grpSpPr>
        <p:sp>
          <p:nvSpPr>
            <p:cNvPr id="55" name="Google Shape;57;p3">
              <a:extLst>
                <a:ext uri="{FF2B5EF4-FFF2-40B4-BE49-F238E27FC236}">
                  <a16:creationId xmlns:a16="http://schemas.microsoft.com/office/drawing/2014/main" id="{19ED329B-680C-2F4B-91C2-22D9456E29D7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56" name="Google Shape;58;p3">
              <a:extLst>
                <a:ext uri="{FF2B5EF4-FFF2-40B4-BE49-F238E27FC236}">
                  <a16:creationId xmlns:a16="http://schemas.microsoft.com/office/drawing/2014/main" id="{ED519012-679F-022C-B285-26D9FB5ED4F1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738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2262267" y="1405071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</a:rPr>
              <a:t>Problem Statement</a:t>
            </a:r>
            <a:endParaRPr lang="en-US" sz="2700" dirty="0"/>
          </a:p>
        </p:txBody>
      </p:sp>
      <p:cxnSp>
        <p:nvCxnSpPr>
          <p:cNvPr id="41" name="Google Shape;41;p2"/>
          <p:cNvCxnSpPr>
            <a:cxnSpLocks/>
          </p:cNvCxnSpPr>
          <p:nvPr/>
        </p:nvCxnSpPr>
        <p:spPr>
          <a:xfrm>
            <a:off x="1459078" y="2723791"/>
            <a:ext cx="0" cy="3867509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Content">
            <a:extLst>
              <a:ext uri="{FF2B5EF4-FFF2-40B4-BE49-F238E27FC236}">
                <a16:creationId xmlns:a16="http://schemas.microsoft.com/office/drawing/2014/main" id="{EB60DFC4-0468-46D3-4D7F-DFD37D756FA9}"/>
              </a:ext>
            </a:extLst>
          </p:cNvPr>
          <p:cNvSpPr/>
          <p:nvPr/>
        </p:nvSpPr>
        <p:spPr>
          <a:xfrm>
            <a:off x="1746803" y="3208652"/>
            <a:ext cx="15887700" cy="4738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3C132B-0A2A-6267-E258-08F93BEA63F8}"/>
              </a:ext>
            </a:extLst>
          </p:cNvPr>
          <p:cNvSpPr txBox="1"/>
          <p:nvPr/>
        </p:nvSpPr>
        <p:spPr>
          <a:xfrm>
            <a:off x="1905000" y="2723791"/>
            <a:ext cx="146353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EV drivers often arrive at charging stations and find all chargers busy, with no prior way to plan or check availability.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Station operators are forced to manage bookings and walk-ins manually, leading to disorganization and difficult operations.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Network managers lack clear visibility into which stations are overloaded, underutilized, or sitting idle.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</a:rPr>
              <a:t>ChargeSpot</a:t>
            </a:r>
            <a:r>
              <a:rPr lang="en-US" sz="2400" b="1" dirty="0">
                <a:solidFill>
                  <a:schemeClr val="bg1"/>
                </a:solidFill>
              </a:rPr>
              <a:t> solves these issues by providing a structured platform for advance slot bookings, a fair waiting list queue, and precise session tracking.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282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10560" y="3723114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Team</a:t>
              </a:r>
              <a:endParaRPr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19400" y="4837032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14980" y="4275458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59;p3">
            <a:extLst>
              <a:ext uri="{FF2B5EF4-FFF2-40B4-BE49-F238E27FC236}">
                <a16:creationId xmlns:a16="http://schemas.microsoft.com/office/drawing/2014/main" id="{54018E2D-36AB-1EDF-D600-D15897955066}"/>
              </a:ext>
            </a:extLst>
          </p:cNvPr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24" name="Google Shape;60;p3">
              <a:extLst>
                <a:ext uri="{FF2B5EF4-FFF2-40B4-BE49-F238E27FC236}">
                  <a16:creationId xmlns:a16="http://schemas.microsoft.com/office/drawing/2014/main" id="{C284BEBB-714C-92CC-389B-E04930B213DE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Google Shape;61;p3">
              <a:extLst>
                <a:ext uri="{FF2B5EF4-FFF2-40B4-BE49-F238E27FC236}">
                  <a16:creationId xmlns:a16="http://schemas.microsoft.com/office/drawing/2014/main" id="{394F93CE-FA03-9F84-6741-14F9A46C6D20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59;p3">
            <a:extLst>
              <a:ext uri="{FF2B5EF4-FFF2-40B4-BE49-F238E27FC236}">
                <a16:creationId xmlns:a16="http://schemas.microsoft.com/office/drawing/2014/main" id="{1BA0F404-A618-BA1C-0C1D-8354EB22E6B7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30" name="Google Shape;60;p3">
              <a:extLst>
                <a:ext uri="{FF2B5EF4-FFF2-40B4-BE49-F238E27FC236}">
                  <a16:creationId xmlns:a16="http://schemas.microsoft.com/office/drawing/2014/main" id="{1FA5297E-EA5D-D0DB-126D-6DF8EC831E4D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31" name="Google Shape;61;p3">
              <a:extLst>
                <a:ext uri="{FF2B5EF4-FFF2-40B4-BE49-F238E27FC236}">
                  <a16:creationId xmlns:a16="http://schemas.microsoft.com/office/drawing/2014/main" id="{4A19E93E-6108-ED16-243D-B4A0E6FBA9EE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59;p3">
            <a:extLst>
              <a:ext uri="{FF2B5EF4-FFF2-40B4-BE49-F238E27FC236}">
                <a16:creationId xmlns:a16="http://schemas.microsoft.com/office/drawing/2014/main" id="{F8F1CAE1-CD2D-79C6-CB36-AD0CD87D5F1D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33" name="Google Shape;60;p3">
              <a:extLst>
                <a:ext uri="{FF2B5EF4-FFF2-40B4-BE49-F238E27FC236}">
                  <a16:creationId xmlns:a16="http://schemas.microsoft.com/office/drawing/2014/main" id="{29A19AD9-EBB1-813C-D241-45CED0068827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Google Shape;61;p3">
              <a:extLst>
                <a:ext uri="{FF2B5EF4-FFF2-40B4-BE49-F238E27FC236}">
                  <a16:creationId xmlns:a16="http://schemas.microsoft.com/office/drawing/2014/main" id="{857413E5-FA07-4665-D62C-D834A4A0AB29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59;p3">
            <a:extLst>
              <a:ext uri="{FF2B5EF4-FFF2-40B4-BE49-F238E27FC236}">
                <a16:creationId xmlns:a16="http://schemas.microsoft.com/office/drawing/2014/main" id="{30107B25-C25E-5ABC-C684-9F31E39AEF21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36" name="Google Shape;60;p3">
              <a:extLst>
                <a:ext uri="{FF2B5EF4-FFF2-40B4-BE49-F238E27FC236}">
                  <a16:creationId xmlns:a16="http://schemas.microsoft.com/office/drawing/2014/main" id="{EB90A88A-2C73-1444-72B8-52AE73DCEBA7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Google Shape;61;p3">
              <a:extLst>
                <a:ext uri="{FF2B5EF4-FFF2-40B4-BE49-F238E27FC236}">
                  <a16:creationId xmlns:a16="http://schemas.microsoft.com/office/drawing/2014/main" id="{9760B485-182A-D2A8-45B2-9C1A827E5D71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56;p3">
            <a:extLst>
              <a:ext uri="{FF2B5EF4-FFF2-40B4-BE49-F238E27FC236}">
                <a16:creationId xmlns:a16="http://schemas.microsoft.com/office/drawing/2014/main" id="{AEF15EDE-AECC-181D-01BA-8D9340B862DA}"/>
              </a:ext>
            </a:extLst>
          </p:cNvPr>
          <p:cNvGrpSpPr/>
          <p:nvPr/>
        </p:nvGrpSpPr>
        <p:grpSpPr>
          <a:xfrm>
            <a:off x="2819400" y="6134100"/>
            <a:ext cx="8553420" cy="417186"/>
            <a:chOff x="571500" y="5165783"/>
            <a:chExt cx="5702280" cy="278124"/>
          </a:xfrm>
        </p:grpSpPr>
        <p:sp>
          <p:nvSpPr>
            <p:cNvPr id="39" name="Google Shape;57;p3">
              <a:extLst>
                <a:ext uri="{FF2B5EF4-FFF2-40B4-BE49-F238E27FC236}">
                  <a16:creationId xmlns:a16="http://schemas.microsoft.com/office/drawing/2014/main" id="{5576E15D-48D3-A62E-5283-2B52E5068A79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40" name="Google Shape;58;p3">
              <a:extLst>
                <a:ext uri="{FF2B5EF4-FFF2-40B4-BE49-F238E27FC236}">
                  <a16:creationId xmlns:a16="http://schemas.microsoft.com/office/drawing/2014/main" id="{4689994B-7F51-9019-DF8D-4081452D209A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90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BD935EEB-1829-720A-F2BD-84312E78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1E6CA563-94F9-3A91-64BB-6817C5634A08}"/>
              </a:ext>
            </a:extLst>
          </p:cNvPr>
          <p:cNvSpPr/>
          <p:nvPr/>
        </p:nvSpPr>
        <p:spPr>
          <a:xfrm>
            <a:off x="3057398" y="1736375"/>
            <a:ext cx="105129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000" dirty="0">
                <a:solidFill>
                  <a:schemeClr val="lt1"/>
                </a:solidFill>
              </a:rPr>
              <a:t>Introduction</a:t>
            </a: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F9B4CCB0-7FEE-107E-D1D6-139E4FD4BF57}"/>
              </a:ext>
            </a:extLst>
          </p:cNvPr>
          <p:cNvCxnSpPr>
            <a:cxnSpLocks/>
          </p:cNvCxnSpPr>
          <p:nvPr/>
        </p:nvCxnSpPr>
        <p:spPr>
          <a:xfrm>
            <a:off x="2701469" y="2806617"/>
            <a:ext cx="0" cy="4394283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Content">
            <a:extLst>
              <a:ext uri="{FF2B5EF4-FFF2-40B4-BE49-F238E27FC236}">
                <a16:creationId xmlns:a16="http://schemas.microsoft.com/office/drawing/2014/main" id="{D51219D4-7F25-034E-A6B3-B7D13277CD7D}"/>
              </a:ext>
            </a:extLst>
          </p:cNvPr>
          <p:cNvSpPr/>
          <p:nvPr/>
        </p:nvSpPr>
        <p:spPr>
          <a:xfrm>
            <a:off x="2790411" y="2811086"/>
            <a:ext cx="15887700" cy="4738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1600"/>
              </a:spcAft>
              <a:buClr>
                <a:srgbClr val="193EB0"/>
              </a:buClr>
            </a:pPr>
            <a:endParaRPr lang="en-US" sz="320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37826-8088-8C3B-23E0-A10876550F4D}"/>
              </a:ext>
            </a:extLst>
          </p:cNvPr>
          <p:cNvSpPr txBox="1"/>
          <p:nvPr/>
        </p:nvSpPr>
        <p:spPr>
          <a:xfrm>
            <a:off x="2971800" y="2933700"/>
            <a:ext cx="1252578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</a:rPr>
              <a:t>ChargeSpot</a:t>
            </a:r>
            <a:r>
              <a:rPr lang="en-US" sz="2400" b="1" dirty="0">
                <a:solidFill>
                  <a:schemeClr val="bg1"/>
                </a:solidFill>
              </a:rPr>
              <a:t> Overview: </a:t>
            </a:r>
            <a:r>
              <a:rPr lang="en-US" sz="2400" b="1" dirty="0" err="1">
                <a:solidFill>
                  <a:schemeClr val="bg1"/>
                </a:solidFill>
              </a:rPr>
              <a:t>ChargeSpot</a:t>
            </a:r>
            <a:r>
              <a:rPr lang="en-US" sz="2400" b="1" dirty="0">
                <a:solidFill>
                  <a:schemeClr val="bg1"/>
                </a:solidFill>
              </a:rPr>
              <a:t> is a </a:t>
            </a:r>
            <a:r>
              <a:rPr lang="en-US" sz="2400" b="1" dirty="0" err="1">
                <a:solidFill>
                  <a:schemeClr val="bg1"/>
                </a:solidFill>
              </a:rPr>
              <a:t>Streamlit</a:t>
            </a:r>
            <a:r>
              <a:rPr lang="en-US" sz="2400" b="1" dirty="0">
                <a:solidFill>
                  <a:schemeClr val="bg1"/>
                </a:solidFill>
              </a:rPr>
              <a:t> application designed to streamline electric vehicle (EV) charging station management, reservation booking, and session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Network Scale: Built to manage a simulated network of 16 charging stations and 56 chargers across major locations in Cairo and Alexandria.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Core Functionalities: Features real-time charger status tracking, smart booking conflict prevention, a fair FIFO waiting list, and comprehensive data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Multi-Role Support: Offers customized dashboards and workflows tailored for three user roles: Drivers, Station Operators, and Administrators.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63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20107" y="3702613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oogle Shape;59;p3">
            <a:extLst>
              <a:ext uri="{FF2B5EF4-FFF2-40B4-BE49-F238E27FC236}">
                <a16:creationId xmlns:a16="http://schemas.microsoft.com/office/drawing/2014/main" id="{3C8824F9-5ABC-4EFF-668A-50A202A3809F}"/>
              </a:ext>
            </a:extLst>
          </p:cNvPr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6" name="Google Shape;60;p3">
              <a:extLst>
                <a:ext uri="{FF2B5EF4-FFF2-40B4-BE49-F238E27FC236}">
                  <a16:creationId xmlns:a16="http://schemas.microsoft.com/office/drawing/2014/main" id="{110235D1-3508-1C69-D303-3222F55949D0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b="1" dirty="0"/>
            </a:p>
          </p:txBody>
        </p:sp>
        <p:sp>
          <p:nvSpPr>
            <p:cNvPr id="7" name="Google Shape;61;p3">
              <a:extLst>
                <a:ext uri="{FF2B5EF4-FFF2-40B4-BE49-F238E27FC236}">
                  <a16:creationId xmlns:a16="http://schemas.microsoft.com/office/drawing/2014/main" id="{E6458DC3-59A4-0EBF-A289-048FA7A60A7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59;p3">
            <a:extLst>
              <a:ext uri="{FF2B5EF4-FFF2-40B4-BE49-F238E27FC236}">
                <a16:creationId xmlns:a16="http://schemas.microsoft.com/office/drawing/2014/main" id="{0E83B93D-FB8E-813F-FBA1-1E0AA2590DF9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9" name="Google Shape;60;p3">
              <a:extLst>
                <a:ext uri="{FF2B5EF4-FFF2-40B4-BE49-F238E27FC236}">
                  <a16:creationId xmlns:a16="http://schemas.microsoft.com/office/drawing/2014/main" id="{FDE556D7-EC6D-1D09-60BA-1733684DF161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10" name="Google Shape;61;p3">
              <a:extLst>
                <a:ext uri="{FF2B5EF4-FFF2-40B4-BE49-F238E27FC236}">
                  <a16:creationId xmlns:a16="http://schemas.microsoft.com/office/drawing/2014/main" id="{6277DDF3-91B1-AA00-1386-A1A6AE3E879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59;p3">
            <a:extLst>
              <a:ext uri="{FF2B5EF4-FFF2-40B4-BE49-F238E27FC236}">
                <a16:creationId xmlns:a16="http://schemas.microsoft.com/office/drawing/2014/main" id="{3CA8EB46-EC47-6EAB-45AB-35AABA7AD741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12" name="Google Shape;60;p3">
              <a:extLst>
                <a:ext uri="{FF2B5EF4-FFF2-40B4-BE49-F238E27FC236}">
                  <a16:creationId xmlns:a16="http://schemas.microsoft.com/office/drawing/2014/main" id="{2231DFCB-7FA7-1BBF-5F08-CDF456B44596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Google Shape;61;p3">
              <a:extLst>
                <a:ext uri="{FF2B5EF4-FFF2-40B4-BE49-F238E27FC236}">
                  <a16:creationId xmlns:a16="http://schemas.microsoft.com/office/drawing/2014/main" id="{5EF8DC89-3F49-24B6-3A27-FDD5D5F053D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59;p3">
            <a:extLst>
              <a:ext uri="{FF2B5EF4-FFF2-40B4-BE49-F238E27FC236}">
                <a16:creationId xmlns:a16="http://schemas.microsoft.com/office/drawing/2014/main" id="{A19A8D05-497D-B04B-F2FA-1D1B5594F206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15" name="Google Shape;60;p3">
              <a:extLst>
                <a:ext uri="{FF2B5EF4-FFF2-40B4-BE49-F238E27FC236}">
                  <a16:creationId xmlns:a16="http://schemas.microsoft.com/office/drawing/2014/main" id="{AD80F6BE-9137-46A3-7D4B-B3F6D935D845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Google Shape;61;p3">
              <a:extLst>
                <a:ext uri="{FF2B5EF4-FFF2-40B4-BE49-F238E27FC236}">
                  <a16:creationId xmlns:a16="http://schemas.microsoft.com/office/drawing/2014/main" id="{349DEBB7-FAA1-C511-4D90-C55FABEDE3E8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19400" y="4819607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56;p3">
            <a:extLst>
              <a:ext uri="{FF2B5EF4-FFF2-40B4-BE49-F238E27FC236}">
                <a16:creationId xmlns:a16="http://schemas.microsoft.com/office/drawing/2014/main" id="{F008D7E0-5724-D67D-06AA-9C1725D5BFDC}"/>
              </a:ext>
            </a:extLst>
          </p:cNvPr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21" name="Google Shape;57;p3">
              <a:extLst>
                <a:ext uri="{FF2B5EF4-FFF2-40B4-BE49-F238E27FC236}">
                  <a16:creationId xmlns:a16="http://schemas.microsoft.com/office/drawing/2014/main" id="{91F47DB6-1F13-BCA9-1F4A-C0BE191FBDAC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22" name="Google Shape;58;p3">
              <a:extLst>
                <a:ext uri="{FF2B5EF4-FFF2-40B4-BE49-F238E27FC236}">
                  <a16:creationId xmlns:a16="http://schemas.microsoft.com/office/drawing/2014/main" id="{6A8D02FD-47C3-273C-A1A4-117CD8F6C28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19400" y="4209809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031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70BDCBBA-0ABD-1800-1210-090CD27A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5067AE8F-15ED-2846-3D82-4CD51BD1DF65}"/>
              </a:ext>
            </a:extLst>
          </p:cNvPr>
          <p:cNvSpPr/>
          <p:nvPr/>
        </p:nvSpPr>
        <p:spPr>
          <a:xfrm>
            <a:off x="2249567" y="1123694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Methodology</a:t>
            </a:r>
            <a:endParaRPr lang="en-US" sz="6600" dirty="0">
              <a:solidFill>
                <a:schemeClr val="lt1"/>
              </a:solidFill>
              <a:ea typeface="Calibri"/>
              <a:cs typeface="Calibri"/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F0477620-3DF6-2992-DF61-40D9DFE5918D}"/>
              </a:ext>
            </a:extLst>
          </p:cNvPr>
          <p:cNvCxnSpPr>
            <a:cxnSpLocks/>
          </p:cNvCxnSpPr>
          <p:nvPr/>
        </p:nvCxnSpPr>
        <p:spPr>
          <a:xfrm>
            <a:off x="1447800" y="2392467"/>
            <a:ext cx="0" cy="4893647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747D85D-33E0-734F-A30A-B3DEF722333E}"/>
              </a:ext>
            </a:extLst>
          </p:cNvPr>
          <p:cNvSpPr txBox="1"/>
          <p:nvPr/>
        </p:nvSpPr>
        <p:spPr>
          <a:xfrm>
            <a:off x="1905000" y="2392467"/>
            <a:ext cx="1508678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</a:rPr>
              <a:t>Modular System Architecture: Organized code structure into clear layers separating data models (models/), business logic (services/), custom algorithms (algorithms/), and UI components (pages/).</a:t>
            </a:r>
            <a:endParaRPr lang="ar-EG" alt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</a:rPr>
              <a:t>Object-Oriented Design (OOP): Applied OOP principles including inheritance and polymorphism, featuring a base Charger class extended into specialized </a:t>
            </a:r>
            <a:r>
              <a:rPr lang="en-US" altLang="en-US" sz="2400" b="1" dirty="0" err="1">
                <a:solidFill>
                  <a:schemeClr val="bg1"/>
                </a:solidFill>
              </a:rPr>
              <a:t>ACCharger</a:t>
            </a:r>
            <a:r>
              <a:rPr lang="en-US" altLang="en-US" sz="2400" b="1" dirty="0">
                <a:solidFill>
                  <a:schemeClr val="bg1"/>
                </a:solidFill>
              </a:rPr>
              <a:t> and </a:t>
            </a:r>
            <a:r>
              <a:rPr lang="en-US" altLang="en-US" sz="2400" b="1" dirty="0" err="1">
                <a:solidFill>
                  <a:schemeClr val="bg1"/>
                </a:solidFill>
              </a:rPr>
              <a:t>DCCharger</a:t>
            </a:r>
            <a:r>
              <a:rPr lang="en-US" altLang="en-US" sz="2400" b="1" dirty="0">
                <a:solidFill>
                  <a:schemeClr val="bg1"/>
                </a:solidFill>
              </a:rPr>
              <a:t> subclasses.</a:t>
            </a:r>
            <a:endParaRPr lang="ar-EG" altLang="en-US" sz="2400" b="1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ar-EG" altLang="en-US" sz="2400" b="1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Custom Algorithms &amp; Data Structures: Implemented manual data structures and algorithms without reliance on built-in utilities, including a Stack for undo actions, a FIFO Queue for waiting lists, a Hash Table for ID lookups, Merge Sort, and Greedy Scheduling.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ar-EG" sz="2400" b="1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</a:rPr>
              <a:t>Data Processing &amp; </a:t>
            </a:r>
            <a:r>
              <a:rPr lang="en-US" altLang="en-US" sz="2400" b="1" dirty="0" err="1">
                <a:solidFill>
                  <a:schemeClr val="bg1"/>
                </a:solidFill>
              </a:rPr>
              <a:t>Streamlit</a:t>
            </a:r>
            <a:r>
              <a:rPr lang="en-US" altLang="en-US" sz="2400" b="1" dirty="0">
                <a:solidFill>
                  <a:schemeClr val="bg1"/>
                </a:solidFill>
              </a:rPr>
              <a:t> UX: Utilized Pandas for synthetic dataset cleaning, transformation, and metrics calculation, wrapped in an interactive </a:t>
            </a:r>
            <a:r>
              <a:rPr lang="en-US" altLang="en-US" sz="2400" b="1" dirty="0" err="1">
                <a:solidFill>
                  <a:schemeClr val="bg1"/>
                </a:solidFill>
              </a:rPr>
              <a:t>Streamlit</a:t>
            </a:r>
            <a:r>
              <a:rPr lang="en-US" altLang="en-US" sz="2400" b="1" dirty="0">
                <a:solidFill>
                  <a:schemeClr val="bg1"/>
                </a:solidFill>
              </a:rPr>
              <a:t> interface with dynamic role-based access control.</a:t>
            </a:r>
            <a:endParaRPr lang="ar-EG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81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oogle Shape;59;p3">
            <a:extLst>
              <a:ext uri="{FF2B5EF4-FFF2-40B4-BE49-F238E27FC236}">
                <a16:creationId xmlns:a16="http://schemas.microsoft.com/office/drawing/2014/main" id="{3C8824F9-5ABC-4EFF-668A-50A202A3809F}"/>
              </a:ext>
            </a:extLst>
          </p:cNvPr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6" name="Google Shape;60;p3">
              <a:extLst>
                <a:ext uri="{FF2B5EF4-FFF2-40B4-BE49-F238E27FC236}">
                  <a16:creationId xmlns:a16="http://schemas.microsoft.com/office/drawing/2014/main" id="{110235D1-3508-1C69-D303-3222F55949D0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" name="Google Shape;61;p3">
              <a:extLst>
                <a:ext uri="{FF2B5EF4-FFF2-40B4-BE49-F238E27FC236}">
                  <a16:creationId xmlns:a16="http://schemas.microsoft.com/office/drawing/2014/main" id="{E6458DC3-59A4-0EBF-A289-048FA7A60A7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59;p3">
            <a:extLst>
              <a:ext uri="{FF2B5EF4-FFF2-40B4-BE49-F238E27FC236}">
                <a16:creationId xmlns:a16="http://schemas.microsoft.com/office/drawing/2014/main" id="{0E83B93D-FB8E-813F-FBA1-1E0AA2590DF9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9" name="Google Shape;60;p3">
              <a:extLst>
                <a:ext uri="{FF2B5EF4-FFF2-40B4-BE49-F238E27FC236}">
                  <a16:creationId xmlns:a16="http://schemas.microsoft.com/office/drawing/2014/main" id="{FDE556D7-EC6D-1D09-60BA-1733684DF161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10" name="Google Shape;61;p3">
              <a:extLst>
                <a:ext uri="{FF2B5EF4-FFF2-40B4-BE49-F238E27FC236}">
                  <a16:creationId xmlns:a16="http://schemas.microsoft.com/office/drawing/2014/main" id="{6277DDF3-91B1-AA00-1386-A1A6AE3E879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59;p3">
            <a:extLst>
              <a:ext uri="{FF2B5EF4-FFF2-40B4-BE49-F238E27FC236}">
                <a16:creationId xmlns:a16="http://schemas.microsoft.com/office/drawing/2014/main" id="{3CA8EB46-EC47-6EAB-45AB-35AABA7AD741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12" name="Google Shape;60;p3">
              <a:extLst>
                <a:ext uri="{FF2B5EF4-FFF2-40B4-BE49-F238E27FC236}">
                  <a16:creationId xmlns:a16="http://schemas.microsoft.com/office/drawing/2014/main" id="{2231DFCB-7FA7-1BBF-5F08-CDF456B44596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Google Shape;61;p3">
              <a:extLst>
                <a:ext uri="{FF2B5EF4-FFF2-40B4-BE49-F238E27FC236}">
                  <a16:creationId xmlns:a16="http://schemas.microsoft.com/office/drawing/2014/main" id="{5EF8DC89-3F49-24B6-3A27-FDD5D5F053D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59;p3">
            <a:extLst>
              <a:ext uri="{FF2B5EF4-FFF2-40B4-BE49-F238E27FC236}">
                <a16:creationId xmlns:a16="http://schemas.microsoft.com/office/drawing/2014/main" id="{A19A8D05-497D-B04B-F2FA-1D1B5594F206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15" name="Google Shape;60;p3">
              <a:extLst>
                <a:ext uri="{FF2B5EF4-FFF2-40B4-BE49-F238E27FC236}">
                  <a16:creationId xmlns:a16="http://schemas.microsoft.com/office/drawing/2014/main" id="{AD80F6BE-9137-46A3-7D4B-B3F6D935D845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Google Shape;61;p3">
              <a:extLst>
                <a:ext uri="{FF2B5EF4-FFF2-40B4-BE49-F238E27FC236}">
                  <a16:creationId xmlns:a16="http://schemas.microsoft.com/office/drawing/2014/main" id="{349DEBB7-FAA1-C511-4D90-C55FABEDE3E8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2760" y="4835278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56;p3">
            <a:extLst>
              <a:ext uri="{FF2B5EF4-FFF2-40B4-BE49-F238E27FC236}">
                <a16:creationId xmlns:a16="http://schemas.microsoft.com/office/drawing/2014/main" id="{F008D7E0-5724-D67D-06AA-9C1725D5BFDC}"/>
              </a:ext>
            </a:extLst>
          </p:cNvPr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21" name="Google Shape;57;p3">
              <a:extLst>
                <a:ext uri="{FF2B5EF4-FFF2-40B4-BE49-F238E27FC236}">
                  <a16:creationId xmlns:a16="http://schemas.microsoft.com/office/drawing/2014/main" id="{91F47DB6-1F13-BCA9-1F4A-C0BE191FBDAC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22" name="Google Shape;58;p3">
              <a:extLst>
                <a:ext uri="{FF2B5EF4-FFF2-40B4-BE49-F238E27FC236}">
                  <a16:creationId xmlns:a16="http://schemas.microsoft.com/office/drawing/2014/main" id="{6A8D02FD-47C3-273C-A1A4-117CD8F6C28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38827" y="4317848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2661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FB06A257-1607-CF44-B907-17CC70906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A9B12A40-D5CA-0CCE-FB54-48CFEB049798}"/>
              </a:ext>
            </a:extLst>
          </p:cNvPr>
          <p:cNvSpPr/>
          <p:nvPr/>
        </p:nvSpPr>
        <p:spPr>
          <a:xfrm>
            <a:off x="2209800" y="1104900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Key Tasks Implemented</a:t>
            </a:r>
            <a:endParaRPr lang="en-US" sz="6600" dirty="0">
              <a:solidFill>
                <a:schemeClr val="lt1"/>
              </a:solidFill>
              <a:ea typeface="Calibri"/>
              <a:cs typeface="Calibri"/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74F60B43-E586-14A5-DD51-456EECDA6888}"/>
              </a:ext>
            </a:extLst>
          </p:cNvPr>
          <p:cNvCxnSpPr>
            <a:cxnSpLocks/>
          </p:cNvCxnSpPr>
          <p:nvPr/>
        </p:nvCxnSpPr>
        <p:spPr>
          <a:xfrm>
            <a:off x="1447800" y="2446705"/>
            <a:ext cx="0" cy="4373195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958F4C2-10D1-844E-C187-294E119FA7BE}"/>
              </a:ext>
            </a:extLst>
          </p:cNvPr>
          <p:cNvSpPr txBox="1"/>
          <p:nvPr/>
        </p:nvSpPr>
        <p:spPr>
          <a:xfrm>
            <a:off x="1866900" y="2420734"/>
            <a:ext cx="14554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Stations &amp; Chargers Management: Implemented station and charger creation, status tracking (Available, Occupied, Maintenance), search filters, and an admin Undo feature powered by a custom Stack.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Smart Booking &amp; Waiting List: Developed conflict-prevention booking validation, greedy slot assignment, and a first-in, first-out (FIFO) Queue for automated waiting list management and slot promotions.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Session Lifecycle &amp; Battery Monitor: Built charging session tracking to separate planned vs. actual times, recorded simulated energy consumption, sorted history via Merge Sort, and integrated driver battery estimates.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Analytics Dashboard &amp; Security: Created Pandas-based data cleaning reports and utilization metrics, supported by secure authentication, email verification, and role-based access control (RBAC).</a:t>
            </a:r>
            <a:endParaRPr lang="ar-EG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8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676F02-7ABE-8ECA-04A5-CB247D767A5B}"/>
              </a:ext>
            </a:extLst>
          </p:cNvPr>
          <p:cNvSpPr txBox="1"/>
          <p:nvPr/>
        </p:nvSpPr>
        <p:spPr>
          <a:xfrm>
            <a:off x="907774" y="1469335"/>
            <a:ext cx="9220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lt1"/>
                </a:solidFill>
              </a:rPr>
              <a:t>Data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CA3FC-6695-BB7D-353A-63E580A4E2A8}"/>
              </a:ext>
            </a:extLst>
          </p:cNvPr>
          <p:cNvSpPr txBox="1"/>
          <p:nvPr/>
        </p:nvSpPr>
        <p:spPr>
          <a:xfrm>
            <a:off x="1066800" y="2705100"/>
            <a:ext cx="16306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</a:rPr>
              <a:t>Core Classes &amp; Object Models (models/): The system relies on an Object-Oriented Programming (OOP) design featuring key classes such as Station, Charger (with specialized </a:t>
            </a:r>
            <a:r>
              <a:rPr lang="en-US" altLang="en-US" sz="2400" b="1" dirty="0" err="1">
                <a:solidFill>
                  <a:schemeClr val="bg1"/>
                </a:solidFill>
              </a:rPr>
              <a:t>ACCharger</a:t>
            </a:r>
            <a:r>
              <a:rPr lang="en-US" altLang="en-US" sz="2400" b="1" dirty="0">
                <a:solidFill>
                  <a:schemeClr val="bg1"/>
                </a:solidFill>
              </a:rPr>
              <a:t> and </a:t>
            </a:r>
            <a:r>
              <a:rPr lang="en-US" altLang="en-US" sz="2400" b="1" dirty="0" err="1">
                <a:solidFill>
                  <a:schemeClr val="bg1"/>
                </a:solidFill>
              </a:rPr>
              <a:t>DCCharger</a:t>
            </a:r>
            <a:r>
              <a:rPr lang="en-US" altLang="en-US" sz="2400" b="1" dirty="0">
                <a:solidFill>
                  <a:schemeClr val="bg1"/>
                </a:solidFill>
              </a:rPr>
              <a:t> subclasses), Booking, </a:t>
            </a:r>
            <a:r>
              <a:rPr lang="en-US" altLang="en-US" sz="2400" b="1" dirty="0" err="1">
                <a:solidFill>
                  <a:schemeClr val="bg1"/>
                </a:solidFill>
              </a:rPr>
              <a:t>ChargingSession</a:t>
            </a:r>
            <a:r>
              <a:rPr lang="en-US" altLang="en-US" sz="2400" b="1" dirty="0">
                <a:solidFill>
                  <a:schemeClr val="bg1"/>
                </a:solidFill>
              </a:rPr>
              <a:t>, and User roles.</a:t>
            </a:r>
            <a:endParaRPr lang="ar-EG" alt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Entity Relationships &amp; Linking: Stations contain collections of chargers, bookings are tied to specific stations and chargers with strict overlap prevention, and confirmed bookings seamlessly transition into active charging sessions to record actual metrics.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Persistent Data Storage: All system data—including station catalogs, user profiles, and transaction logs—is securely serialized and stored using JSON and CSV files to ensure data persistence across application restarts.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Supporting Data Structures: The models are backed by custom data structures including a Hash Table for instant ID lookups, a Stack for tracking administrative changes and enabling Undo operations, and a FIFO Queue for waiting list management.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Data Processing &amp; Pandas Integration: Historical records and datasets are structured into Pandas </a:t>
            </a:r>
            <a:r>
              <a:rPr lang="en-US" sz="2400" b="1" dirty="0" err="1">
                <a:solidFill>
                  <a:schemeClr val="bg1"/>
                </a:solidFill>
              </a:rPr>
              <a:t>DataFrames</a:t>
            </a:r>
            <a:r>
              <a:rPr lang="en-US" sz="2400" b="1" dirty="0">
                <a:solidFill>
                  <a:schemeClr val="bg1"/>
                </a:solidFill>
              </a:rPr>
              <a:t> to facilitate data cleaning reports, metric aggregations, and deep analytical processing.</a:t>
            </a:r>
          </a:p>
        </p:txBody>
      </p:sp>
    </p:spTree>
    <p:extLst>
      <p:ext uri="{BB962C8B-B14F-4D97-AF65-F5344CB8AC3E}">
        <p14:creationId xmlns:p14="http://schemas.microsoft.com/office/powerpoint/2010/main" val="124767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200150" y="700000"/>
            <a:ext cx="158877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193EB0"/>
                </a:solidFill>
                <a:latin typeface="Arial"/>
                <a:ea typeface="Arial"/>
                <a:cs typeface="Arial"/>
              </a:rPr>
              <a:t>Results and Insights</a:t>
            </a:r>
          </a:p>
        </p:txBody>
      </p:sp>
      <p:sp>
        <p:nvSpPr>
          <p:cNvPr id="3" name="Content"/>
          <p:cNvSpPr/>
          <p:nvPr/>
        </p:nvSpPr>
        <p:spPr>
          <a:xfrm>
            <a:off x="1187450" y="419100"/>
            <a:ext cx="15887700" cy="768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3200" b="1" dirty="0"/>
              <a:t>Comprehensive Data Cleaning &amp; Validation: </a:t>
            </a:r>
            <a:r>
              <a:rPr lang="en-US" sz="3200" dirty="0"/>
              <a:t>Successfully ingested and cleaned synthetic datasets containing deliberately injected defects, achieving a 100% detection and correction rate for missing and invalid records.</a:t>
            </a:r>
            <a:endParaRPr lang="ar-EG" sz="3200" dirty="0"/>
          </a:p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3200" b="1" dirty="0"/>
              <a:t>Key Performance Metrics &amp; Analytics: </a:t>
            </a:r>
            <a:r>
              <a:rPr lang="en-US" sz="3200" dirty="0"/>
              <a:t>Generated actionable operational insights and KPI dashboards using Pandas, tracking peak demand hours, charger utilization rates, cancellation frequencies, and average waiting times across stations.</a:t>
            </a:r>
            <a:endParaRPr lang="ar-EG" sz="3200" dirty="0"/>
          </a:p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3200" b="1" dirty="0"/>
              <a:t>Algorithmic Efficiency &amp; Reliability: </a:t>
            </a:r>
            <a:r>
              <a:rPr lang="en-US" sz="3200" dirty="0"/>
              <a:t>Validated the high performance of custom algorithms and data structures through 325 automated tests, demonstrating optimal time complexities for searching, sorting, and greedy slot scheduling.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200150" y="700000"/>
            <a:ext cx="158877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193EB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Content"/>
          <p:cNvSpPr/>
          <p:nvPr/>
        </p:nvSpPr>
        <p:spPr>
          <a:xfrm>
            <a:off x="1187450" y="876300"/>
            <a:ext cx="15887700" cy="768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3200" b="1" dirty="0"/>
              <a:t>Successful Project Delivery: </a:t>
            </a:r>
            <a:r>
              <a:rPr lang="en-US" sz="3200" dirty="0" err="1"/>
              <a:t>ChargeSpot</a:t>
            </a:r>
            <a:r>
              <a:rPr lang="en-US" sz="3200" dirty="0"/>
              <a:t> successfully delivers a robust, full-stack EV charging management platform featuring modular architecture, secure user authentication, and multi-role dashboards.</a:t>
            </a:r>
          </a:p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3200" b="1" dirty="0"/>
              <a:t>Core Algorithmic &amp; Analytical Impact: </a:t>
            </a:r>
            <a:r>
              <a:rPr lang="en-US" sz="3200" dirty="0"/>
              <a:t>The system integrates custom data structures, manual algorithms, and Pandas-driven analytics, validated through comprehensive testing to provide an efficient and scalable solution.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200150" y="700000"/>
            <a:ext cx="158877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5000" b="1" dirty="0">
                <a:solidFill>
                  <a:srgbClr val="193EB0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3" name="Content"/>
          <p:cNvSpPr/>
          <p:nvPr/>
        </p:nvSpPr>
        <p:spPr>
          <a:xfrm>
            <a:off x="1200150" y="1900000"/>
            <a:ext cx="15887700" cy="5119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4000" dirty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Thank you for listening — questions are welcome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949</Words>
  <Application>Microsoft Office PowerPoint</Application>
  <PresentationFormat>Custom</PresentationFormat>
  <Paragraphs>132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Malgun Gothic</vt:lpstr>
      <vt:lpstr>Myanmar Text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Our Team</dc:title>
  <dc:creator>farah walid</dc:creator>
  <cp:lastModifiedBy>Ahmed Mahmoud</cp:lastModifiedBy>
  <cp:revision>298</cp:revision>
  <dcterms:created xsi:type="dcterms:W3CDTF">2006-08-16T00:00:00Z</dcterms:created>
  <dcterms:modified xsi:type="dcterms:W3CDTF">2026-10-16T12:17:11Z</dcterms:modified>
  <dc:identifier>DAGQ85K8Zw8</dc:identifier>
</cp:coreProperties>
</file>